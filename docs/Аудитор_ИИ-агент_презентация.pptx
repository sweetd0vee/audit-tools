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1  /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72800" cy="32004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300" b="1">
                <a:solidFill>
                  <a:srgbClr val="D5E0EA"/>
                </a:solidFill>
                <a:latin typeface="Calibri"/>
              </a:rPr>
              <a:t>ВНУТРЕННИЙ АУДИТ  ·  БАНК РБ  ·  НА МАШИНЕ БАНКА  ·  v0.0.1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972800" cy="86868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Аудитор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10789920" cy="9601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200" b="0">
                <a:solidFill>
                  <a:srgbClr val="D5E0EA"/>
                </a:solidFill>
                <a:latin typeface="Calibri"/>
              </a:rPr>
              <a:t>ИИ-агент внутренней проверки.</a:t>
            </a:r>
            <a:br/>
            <a:r>
              <a:t>Поставили — открыли чат — ведёте проверку.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160520"/>
            <a:ext cx="2651760" cy="1143000"/>
          </a:xfrm>
          <a:prstGeom prst="roundRect">
            <a:avLst>
              <a:gd name="adj" fmla="val 10000"/>
            </a:avLst>
          </a:prstGeom>
          <a:solidFill>
            <a:srgbClr val="1733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24528"/>
            <a:ext cx="2651760" cy="1024128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Одна команда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compose up → чат на :3000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4160520"/>
            <a:ext cx="2651760" cy="1143000"/>
          </a:xfrm>
          <a:prstGeom prst="roundRect">
            <a:avLst>
              <a:gd name="adj" fmla="val 10000"/>
            </a:avLst>
          </a:prstGeom>
          <a:solidFill>
            <a:srgbClr val="1733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4224528"/>
            <a:ext cx="2651760" cy="1024128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Готовый стек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чат, модели, поиск — уже вместе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160520"/>
            <a:ext cx="2651760" cy="1143000"/>
          </a:xfrm>
          <a:prstGeom prst="roundRect">
            <a:avLst>
              <a:gd name="adj" fmla="val 10000"/>
            </a:avLst>
          </a:prstGeom>
          <a:solidFill>
            <a:srgbClr val="1733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224528"/>
            <a:ext cx="2651760" cy="1024128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Вы решаете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модель предлагает, аудитор утверждает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39" y="4160520"/>
            <a:ext cx="2651760" cy="1143000"/>
          </a:xfrm>
          <a:prstGeom prst="roundRect">
            <a:avLst>
              <a:gd name="adj" fmla="val 10000"/>
            </a:avLst>
          </a:prstGeom>
          <a:solidFill>
            <a:srgbClr val="1733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39" y="4224528"/>
            <a:ext cx="2651760" cy="1024128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Не в облако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данные остаются в контуре банка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2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СОДЕРЖАНИЕ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О чём эта презентация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170432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335024"/>
            <a:ext cx="822960" cy="512064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200" b="1">
                <a:solidFill>
                  <a:srgbClr val="C4962C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1298448"/>
            <a:ext cx="9601200" cy="603504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Зачем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Что болит на каждой проверке и чего модель не заменяет.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103120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67712"/>
            <a:ext cx="822960" cy="512064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200" b="1">
                <a:solidFill>
                  <a:srgbClr val="C4962C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231136"/>
            <a:ext cx="9601200" cy="603504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Как работает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От одной фразы в чате до черновика заключения в Word.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035808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200400"/>
            <a:ext cx="822960" cy="512064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200" b="1">
                <a:solidFill>
                  <a:srgbClr val="C4962C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163824"/>
            <a:ext cx="9601200" cy="603504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Как устроено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Три локальные модели, цитата из акта, два стоп-крана.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68496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133087"/>
            <a:ext cx="822960" cy="512064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200" b="1">
                <a:solidFill>
                  <a:srgbClr val="C4962C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4096511"/>
            <a:ext cx="9601200" cy="603504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Контур банка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На машине банка, только официальные сайты РБ, без облака.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901183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065775"/>
            <a:ext cx="822960" cy="512064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200" b="1">
                <a:solidFill>
                  <a:srgbClr val="C4962C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029199"/>
            <a:ext cx="9601200" cy="603504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Итог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Что можно показать сегодня — и где человек обязателен.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3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ЗАЧЕМ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Каждую проверку аудитор собирает заново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170432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170432"/>
            <a:ext cx="91440" cy="111556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298448"/>
            <a:ext cx="5212080" cy="896112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1F33"/>
                </a:solidFill>
                <a:latin typeface="Calibri"/>
              </a:rPr>
              <a:t>01   Вспомнить законы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ГК, НК, инструкции НБРБ, акты Минфина и МНС — по теме этой недели.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377440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377440"/>
            <a:ext cx="91440" cy="111556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212080" cy="896112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1F33"/>
                </a:solidFill>
                <a:latin typeface="Calibri"/>
              </a:rPr>
              <a:t>02   Найти редакцию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Актуальный текст на pravo.by / nbrb.by, не методичка с форума.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584448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3584448"/>
            <a:ext cx="91440" cy="111556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12463"/>
            <a:ext cx="5212080" cy="896112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1F33"/>
                </a:solidFill>
                <a:latin typeface="Calibri"/>
              </a:rPr>
              <a:t>03   Вычитать кодекс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Десятки страниц, чтобы вытащить 5–7 норм в рабочую бумагу.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791456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4791456"/>
            <a:ext cx="91440" cy="111556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919472"/>
            <a:ext cx="5212080" cy="896112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1F33"/>
                </a:solidFill>
                <a:latin typeface="Calibri"/>
              </a:rPr>
              <a:t>04   Собрать бумаги СВА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Программа, гипотезы, мнение, заключение — каждый раз с нуля.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170432"/>
            <a:ext cx="5440680" cy="4846320"/>
          </a:xfrm>
          <a:prstGeom prst="roundRect">
            <a:avLst>
              <a:gd name="adj" fmla="val 8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371600"/>
            <a:ext cx="5029200" cy="320040"/>
          </a:xfrm>
          <a:prstGeom prst="rect">
            <a:avLst/>
          </a:prstGeom>
          <a:noFill/>
        </p:spPr>
        <p:txBody>
          <a:bodyPr wrap="square" lIns="36576" rIns="36576" tIns="36576" bIns="36576"/>
          <a:lstStyle/>
          <a:p>
            <a:pPr algn="l"/>
            <a:r>
              <a:rPr sz="1200" b="1">
                <a:solidFill>
                  <a:srgbClr val="C4962C"/>
                </a:solidFill>
                <a:latin typeface="Calibri"/>
              </a:rPr>
              <a:t>РАЗРЫВ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1783080"/>
            <a:ext cx="5029200" cy="3977639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Чат без документов выдумывает статьи.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Документы без чата читаются слишком долго.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D5E0EA"/>
                </a:solidFill>
                <a:latin typeface="Calibri"/>
              </a:rPr>
              <a:t>Нужны оба: модель помогает найти, закон доказывает, аудитор подтверждает.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4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ПРОДУКТ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Коробка, а не «ещё один чат»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87552"/>
            <a:ext cx="11155680" cy="38404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Берём готовый чат и модели. Своё пишем только там, где рынку нечего дать аудиту банка РБ.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81328"/>
            <a:ext cx="3749039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" y="1609344"/>
            <a:ext cx="3419856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Берём готовое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2029968"/>
            <a:ext cx="3419856" cy="22860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Чат с входом и файлами.</a:t>
            </a:r>
            <a:br/>
            <a:r>
              <a:t>Локальные модели.</a:t>
            </a:r>
            <a:br/>
            <a:r>
              <a:t>Поиск по сайтам РБ.</a:t>
            </a:r>
            <a:br/>
            <a:r>
              <a:t>Word и Excel по шаблону.</a:t>
            </a:r>
            <a:br/>
            <a:r>
              <a:t>Запуск одной командой.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481328"/>
            <a:ext cx="3749039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609344"/>
            <a:ext cx="3419856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Пишем своё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029968"/>
            <a:ext cx="3419856" cy="22860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Проверка как дело на диске.</a:t>
            </a:r>
            <a:br/>
            <a:r>
              <a:t>Скачивание законов РБ.</a:t>
            </a:r>
            <a:br/>
            <a:r>
              <a:t>Нарезка текста по статьям.</a:t>
            </a:r>
            <a:br/>
            <a:r>
              <a:t>Промпты методолога ВА.</a:t>
            </a:r>
            <a:br/>
            <a:r>
              <a:t>Сборка черновиков документов.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481328"/>
            <a:ext cx="3749039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8471" y="1609344"/>
            <a:ext cx="3419856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Не пишем вовсе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1" y="2029968"/>
            <a:ext cx="3419856" cy="22860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Свой чат и свой сайт.</a:t>
            </a:r>
            <a:br/>
            <a:r>
              <a:t>Свою нейросеть.</a:t>
            </a:r>
            <a:br/>
            <a:r>
              <a:t>Свой поисковик.</a:t>
            </a:r>
            <a:br/>
            <a:r>
              <a:t>Редактор рабочих бумаг.</a:t>
            </a:r>
            <a:br/>
            <a:r>
              <a:t>Подпись «за аудитора».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681728"/>
            <a:ext cx="11338560" cy="1554480"/>
          </a:xfrm>
          <a:prstGeom prst="roundRect">
            <a:avLst>
              <a:gd name="adj" fmla="val 8000"/>
            </a:avLst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773168"/>
            <a:ext cx="10972800" cy="1371600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3"/>
                </a:solidFill>
                <a:latin typeface="Calibri"/>
              </a:rPr>
              <a:t>«Модель ускоряет поиск нормы и черновик. Решение и подпись — за аудитором. Цитату сверяют с файлом в деле.»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Ускоряет сбор законов и бумаг. Не ставит вывод «нарушение». Не подписывает заключение.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5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КАК РАБОТАЕТ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Один чат — одна проверка до черновика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87552"/>
            <a:ext cx="11155680" cy="38404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Тема: аренда коммерческой недвижимости — валюта, НДС, договоры с нерезидентами.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44752"/>
            <a:ext cx="553212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54480"/>
            <a:ext cx="516636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1">
                <a:solidFill>
                  <a:srgbClr val="C4962C"/>
                </a:solidFill>
                <a:latin typeface="Calibri"/>
              </a:rPr>
              <a:t>РАНЬШЕ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901952"/>
            <a:ext cx="5166360" cy="17373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Вспоминаю акты по памяти и старым бумагам.</a:t>
            </a:r>
            <a:br/>
            <a:r>
              <a:t>Ищу редакции вкладками на pravo.by.</a:t>
            </a:r>
            <a:br/>
            <a:r>
              <a:t>Читаю ГК и НК «на всякий случай».</a:t>
            </a:r>
            <a:br/>
            <a:r>
              <a:t>Программу, мнение и заключение пишу с нуля.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444752"/>
            <a:ext cx="5532120" cy="2331720"/>
          </a:xfrm>
          <a:prstGeom prst="roundRect">
            <a:avLst>
              <a:gd name="adj" fmla="val 8000"/>
            </a:avLst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554480"/>
            <a:ext cx="516636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1">
                <a:solidFill>
                  <a:srgbClr val="C4962C"/>
                </a:solidFill>
                <a:latin typeface="Calibri"/>
              </a:rPr>
              <a:t>ТЕПЕРЬ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166360" cy="17373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Одной фразой описываю проверку в чате.</a:t>
            </a:r>
            <a:br/>
            <a:r>
              <a:t>Утверждаю список законов — без этого ничего не качается.</a:t>
            </a:r>
            <a:br/>
            <a:r>
              <a:t>Читаю Word-обзор вместо кодекса целиком.</a:t>
            </a:r>
            <a:br/>
            <a:r>
              <a:t>Гипотезы в Excel → черновик мнения и заключения.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931920"/>
            <a:ext cx="13716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4041648"/>
            <a:ext cx="137160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800" b="1">
                <a:solidFill>
                  <a:srgbClr val="C4962C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434840"/>
            <a:ext cx="1371600" cy="6400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Описать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" y="5074920"/>
            <a:ext cx="1261872" cy="960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100" b="0">
                <a:solidFill>
                  <a:srgbClr val="3D4F61"/>
                </a:solidFill>
                <a:latin typeface="Calibri"/>
              </a:rPr>
              <a:t>Проверка аренды…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56232" y="3931920"/>
            <a:ext cx="13716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6232" y="4041648"/>
            <a:ext cx="137160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800" b="1">
                <a:solidFill>
                  <a:srgbClr val="C4962C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56232" y="4434840"/>
            <a:ext cx="1371600" cy="6400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Утвердить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11096" y="5074920"/>
            <a:ext cx="1261872" cy="960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100" b="0">
                <a:solidFill>
                  <a:srgbClr val="3D4F61"/>
                </a:solidFill>
                <a:latin typeface="Calibri"/>
              </a:rPr>
              <a:t>утверждаю 1, 2, 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00984" y="3931920"/>
            <a:ext cx="13716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00984" y="4041648"/>
            <a:ext cx="137160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800" b="1">
                <a:solidFill>
                  <a:srgbClr val="C4962C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00984" y="4434840"/>
            <a:ext cx="1371600" cy="6400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Читать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55848" y="5074920"/>
            <a:ext cx="1261872" cy="960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100" b="0">
                <a:solidFill>
                  <a:srgbClr val="3D4F61"/>
                </a:solidFill>
                <a:latin typeface="Calibri"/>
              </a:rPr>
              <a:t>саммари / программа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45736" y="3931920"/>
            <a:ext cx="13716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45736" y="4041648"/>
            <a:ext cx="137160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800" b="1">
                <a:solidFill>
                  <a:srgbClr val="C4962C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45736" y="4434840"/>
            <a:ext cx="1371600" cy="6400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Планировать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00600" y="5074920"/>
            <a:ext cx="1261872" cy="960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100" b="0">
                <a:solidFill>
                  <a:srgbClr val="3D4F61"/>
                </a:solidFill>
                <a:latin typeface="Calibri"/>
              </a:rPr>
              <a:t>гипотезы → Excel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3931920"/>
            <a:ext cx="13716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0488" y="4041648"/>
            <a:ext cx="137160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800" b="1">
                <a:solidFill>
                  <a:srgbClr val="C4962C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0488" y="4434840"/>
            <a:ext cx="1371600" cy="6400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Подтвердить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5352" y="5074920"/>
            <a:ext cx="1261872" cy="960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100" b="0">
                <a:solidFill>
                  <a:srgbClr val="3D4F61"/>
                </a:solidFill>
                <a:latin typeface="Calibri"/>
              </a:rPr>
              <a:t>утверждаю гипотезы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5240" y="3931920"/>
            <a:ext cx="13716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35240" y="4041648"/>
            <a:ext cx="137160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800" b="1">
                <a:solidFill>
                  <a:srgbClr val="C4962C"/>
                </a:solidFill>
                <a:latin typeface="Calibr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4434840"/>
            <a:ext cx="1371600" cy="6400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Мнение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0104" y="5074920"/>
            <a:ext cx="1261872" cy="960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100" b="0">
                <a:solidFill>
                  <a:srgbClr val="3D4F61"/>
                </a:solidFill>
                <a:latin typeface="Calibri"/>
              </a:rPr>
              <a:t>раздел I, 2–4 стр.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79992" y="3931920"/>
            <a:ext cx="13716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9992" y="4041648"/>
            <a:ext cx="137160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800" b="1">
                <a:solidFill>
                  <a:srgbClr val="C4962C"/>
                </a:solidFill>
                <a:latin typeface="Calibr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79992" y="4434840"/>
            <a:ext cx="1371600" cy="6400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Заключение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4856" y="5074920"/>
            <a:ext cx="1261872" cy="960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100" b="0">
                <a:solidFill>
                  <a:srgbClr val="3D4F61"/>
                </a:solidFill>
                <a:latin typeface="Calibri"/>
              </a:rPr>
              <a:t>полный черновик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524744" y="3931920"/>
            <a:ext cx="13716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24744" y="4041648"/>
            <a:ext cx="137160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800" b="1">
                <a:solidFill>
                  <a:srgbClr val="C4962C"/>
                </a:solidFill>
                <a:latin typeface="Calibri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24744" y="4434840"/>
            <a:ext cx="1371600" cy="6400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Спросить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79608" y="5074920"/>
            <a:ext cx="1261872" cy="960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100" b="0">
                <a:solidFill>
                  <a:srgbClr val="3D4F61"/>
                </a:solidFill>
                <a:latin typeface="Calibri"/>
              </a:rPr>
              <a:t>вопрос Какой срок…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6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ЧТО ПОЛУЧАЕТ АУДИТОР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Файлы, которые уносите из чата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87552"/>
            <a:ext cx="11155680" cy="38404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В мнение и заключение попадают только гипотезы, которые вы подтвердили.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44752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609344"/>
            <a:ext cx="338328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1">
                <a:solidFill>
                  <a:srgbClr val="C4962C"/>
                </a:solidFill>
                <a:latin typeface="Calibri"/>
              </a:rPr>
              <a:t>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920240"/>
            <a:ext cx="3383280" cy="4114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Библиотека законов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04872"/>
            <a:ext cx="3383280" cy="10058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0">
                <a:solidFill>
                  <a:srgbClr val="3D4F61"/>
                </a:solidFill>
                <a:latin typeface="Calibri"/>
              </a:rPr>
              <a:t>Официальные тексты, которые вы утвердили — не то, что модель «вспомнила».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444752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609344"/>
            <a:ext cx="338328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1">
                <a:solidFill>
                  <a:srgbClr val="C4962C"/>
                </a:solidFill>
                <a:latin typeface="Calibri"/>
              </a:rPr>
              <a:t>.docx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920240"/>
            <a:ext cx="3383280" cy="4114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Обзор актов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404872"/>
            <a:ext cx="3383280" cy="10058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0">
                <a:solidFill>
                  <a:srgbClr val="3D4F61"/>
                </a:solidFill>
                <a:latin typeface="Calibri"/>
              </a:rPr>
              <a:t>Зачем каждый закон и какие статьи смотреть. Со ссылками на фрагменты.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1444752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609344"/>
            <a:ext cx="338328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1">
                <a:solidFill>
                  <a:srgbClr val="C4962C"/>
                </a:solidFill>
                <a:latin typeface="Calibri"/>
              </a:rPr>
              <a:t>.docx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920240"/>
            <a:ext cx="3383280" cy="4114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Программа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2404872"/>
            <a:ext cx="3383280" cy="10058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0">
                <a:solidFill>
                  <a:srgbClr val="3D4F61"/>
                </a:solidFill>
                <a:latin typeface="Calibri"/>
              </a:rPr>
              <a:t>Черновик программы проверки: цель, риски, что запросить, как проверить.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776472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941064"/>
            <a:ext cx="338328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1">
                <a:solidFill>
                  <a:srgbClr val="C4962C"/>
                </a:solidFill>
                <a:latin typeface="Calibri"/>
              </a:rPr>
              <a:t>.xlsx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251960"/>
            <a:ext cx="3383280" cy="4114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Гипотезы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736592"/>
            <a:ext cx="3383280" cy="10058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0">
                <a:solidFill>
                  <a:srgbClr val="3D4F61"/>
                </a:solidFill>
                <a:latin typeface="Calibri"/>
              </a:rPr>
              <a:t>Чеклист 8–10 гипотез: что смотреть и на что опираться.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3776472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3941064"/>
            <a:ext cx="338328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1">
                <a:solidFill>
                  <a:srgbClr val="C4962C"/>
                </a:solidFill>
                <a:latin typeface="Calibri"/>
              </a:rPr>
              <a:t>.docx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251960"/>
            <a:ext cx="3383280" cy="4114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Мнение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736592"/>
            <a:ext cx="3383280" cy="10058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0">
                <a:solidFill>
                  <a:srgbClr val="3D4F61"/>
                </a:solidFill>
                <a:latin typeface="Calibri"/>
              </a:rPr>
              <a:t>Раздел I для руководства банка. Черновик для правки, не подпись.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79" y="3776472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59" y="3941064"/>
            <a:ext cx="338328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1">
                <a:solidFill>
                  <a:srgbClr val="C4962C"/>
                </a:solidFill>
                <a:latin typeface="Calibri"/>
              </a:rPr>
              <a:t>.docx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59" y="4251960"/>
            <a:ext cx="3383280" cy="4114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Заключение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59" y="4736592"/>
            <a:ext cx="3383280" cy="10058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0">
                <a:solidFill>
                  <a:srgbClr val="3D4F61"/>
                </a:solidFill>
                <a:latin typeface="Calibri"/>
              </a:rPr>
              <a:t>Титул, содержание, мнение, наблюдения. Не акт СВА.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7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КАК УСТРОЕНО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Сборка готового, а не свой чат с нуля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188720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188720"/>
            <a:ext cx="91440" cy="1143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389888"/>
            <a:ext cx="10698480" cy="822960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Чат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3D4F61"/>
                </a:solidFill>
                <a:latin typeface="Calibri"/>
              </a:rPr>
              <a:t>Одно окно для аудитора. Вход, файлы, статусы. Свой сайт не пишем.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450591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450591"/>
            <a:ext cx="91440" cy="1143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651760"/>
            <a:ext cx="10698480" cy="822960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Агент «Аудитор»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3D4F61"/>
                </a:solidFill>
                <a:latin typeface="Calibri"/>
              </a:rPr>
              <a:t>Понимает обычные фразы: «утверждаю», «саммари», «вопрос …». Дальше вызывает сервер.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12463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12463"/>
            <a:ext cx="91440" cy="1143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913631"/>
            <a:ext cx="10698480" cy="822960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Сервер проверки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3D4F61"/>
                </a:solidFill>
                <a:latin typeface="Calibri"/>
              </a:rPr>
              <a:t>Дело на диске: какие законы утверждены, что скачано, какие черновики собраны.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974336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974336"/>
            <a:ext cx="91440" cy="1143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175503"/>
            <a:ext cx="10698480" cy="822960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На машине банка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3D4F61"/>
                </a:solidFill>
                <a:latin typeface="Calibri"/>
              </a:rPr>
              <a:t>Модели локально. Поиск только по официальным сайтам РБ. Файлы дела — на диске.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8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ЦИТАТА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Модель думает. Документы доказывают.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87552"/>
            <a:ext cx="11155680" cy="38404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На «вопрос …» в ответ кладутся куски утверждённых актов. Нет куска — нет статьи.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44752"/>
            <a:ext cx="3749039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" y="1554480"/>
            <a:ext cx="3419856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500" b="1">
                <a:solidFill>
                  <a:srgbClr val="C4962C"/>
                </a:solidFill>
                <a:latin typeface="Calibri"/>
              </a:rPr>
              <a:t>Чат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1938528"/>
            <a:ext cx="3419856" cy="8686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0">
                <a:solidFill>
                  <a:srgbClr val="142233"/>
                </a:solidFill>
                <a:latin typeface="Calibri"/>
              </a:rPr>
              <a:t>Пишет список законов, обзор, программу, мнение и заключение.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444752"/>
            <a:ext cx="3749039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554480"/>
            <a:ext cx="3419856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500" b="1">
                <a:solidFill>
                  <a:srgbClr val="C4962C"/>
                </a:solidFill>
                <a:latin typeface="Calibri"/>
              </a:rPr>
              <a:t>Поиск по смыслу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1938528"/>
            <a:ext cx="3419856" cy="8686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0">
                <a:solidFill>
                  <a:srgbClr val="142233"/>
                </a:solidFill>
                <a:latin typeface="Calibri"/>
              </a:rPr>
              <a:t>Находит нужную статью в библиотеке этой проверки.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444752"/>
            <a:ext cx="3749039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8471" y="1554480"/>
            <a:ext cx="3419856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500" b="1">
                <a:solidFill>
                  <a:srgbClr val="C4962C"/>
                </a:solidFill>
                <a:latin typeface="Calibri"/>
              </a:rPr>
              <a:t>Перепроверка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1" y="1938528"/>
            <a:ext cx="3419856" cy="8686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0">
                <a:solidFill>
                  <a:srgbClr val="142233"/>
                </a:solidFill>
                <a:latin typeface="Calibri"/>
              </a:rPr>
              <a:t>Отсекает похожие, но не те фрагменты — чтобы не перепутать статьи.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154680"/>
            <a:ext cx="69037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46120"/>
            <a:ext cx="653796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500" b="1">
                <a:solidFill>
                  <a:srgbClr val="0B1F33"/>
                </a:solidFill>
                <a:latin typeface="Calibri"/>
              </a:rPr>
              <a:t>Как отвечает на вопрос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6537960" cy="24231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1.  Пишете «вопрос …». Без этого слова — просто разговор, не норма.</a:t>
            </a:r>
            <a:br/>
            <a:r>
              <a:t>2.  Система ищет куски в законах, которые вы утвердили.</a:t>
            </a:r>
            <a:br/>
            <a:r>
              <a:t>3.  Модель видит только эти куски — не «память» и не интернет.</a:t>
            </a:r>
            <a:br/>
            <a:r>
              <a:t>4.  Куска нет — отказ. Статью из головы не подставляет.</a:t>
            </a:r>
            <a:br/>
            <a:r>
              <a:t>5.  В ответе блок «Откуда» — сверяете с файлом в деле.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79" y="3154680"/>
            <a:ext cx="4251960" cy="3063240"/>
          </a:xfrm>
          <a:prstGeom prst="roundRect">
            <a:avLst>
              <a:gd name="adj" fmla="val 8000"/>
            </a:avLst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0" y="3246120"/>
            <a:ext cx="388620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500" b="1">
                <a:solidFill>
                  <a:srgbClr val="0B1F33"/>
                </a:solidFill>
                <a:latin typeface="Calibri"/>
              </a:rPr>
              <a:t>Закон ≠ цифра клиента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657600"/>
            <a:ext cx="3886200" cy="23317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Закон — из библиотеки проверки, со ссылкой на статью.</a:t>
            </a:r>
            <a:br/>
            <a:br/>
            <a:r>
              <a:t>Цифры клиента (договоры, выгрузки) — следующий этап. Excel в базу законов не кладём.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9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АУДИТОР РЕШАЕТ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Два стоп-крана: законы и гипотезы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188720"/>
            <a:ext cx="5669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188720"/>
            <a:ext cx="91440" cy="196596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1353312"/>
            <a:ext cx="5212080" cy="1691640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1. Законы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D4F61"/>
                </a:solidFill>
                <a:latin typeface="Calibri"/>
              </a:rPr>
              <a:t>Модель предлагает список актов.</a:t>
            </a:r>
            <a:br/>
            <a:r>
              <a:t>Пока не напишете «утверждаю 1, 2, 4» — ничего не скачивается.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188720"/>
            <a:ext cx="5669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188720"/>
            <a:ext cx="91440" cy="196596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1353312"/>
            <a:ext cx="5212080" cy="1691640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2. Гипотезы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D4F61"/>
                </a:solidFill>
                <a:latin typeface="Calibri"/>
              </a:rPr>
              <a:t>Excel готов. Пока не напишете «утверждаю гипотезы 1, 3, 5» — нет мнения и заключения.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337560"/>
            <a:ext cx="566928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474720"/>
            <a:ext cx="530352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Где модель молчит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913632"/>
            <a:ext cx="5303520" cy="2103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утверждаю, скачай, документы, статус, помощь — это код, не нейросеть.</a:t>
            </a:r>
            <a:br/>
            <a:br/>
            <a:r>
              <a:t>Выдумать статью на этом шаге нельзя: качается только то, что вы выбрали.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337560"/>
            <a:ext cx="5486400" cy="2880360"/>
          </a:xfrm>
          <a:prstGeom prst="roundRect">
            <a:avLst>
              <a:gd name="adj" fmla="val 8000"/>
            </a:avLst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474720"/>
            <a:ext cx="512064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Где модель говорит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913632"/>
            <a:ext cx="5120640" cy="2103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Список актов, тексты Word и Excel, ответ на вопрос по найденным кускам, обычный разговор в чате.</a:t>
            </a:r>
            <a:br/>
            <a:br/>
            <a:r>
              <a:t>Черновик можно править. Подпись — ваша.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10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КОНТУР БАНКА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Данные не уходят в облако — так задумано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188720"/>
            <a:ext cx="374903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389888"/>
            <a:ext cx="3383280" cy="4572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Модели на месте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20240"/>
            <a:ext cx="3383280" cy="13258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Чат и поиск крутятся на машине банка. Формулировки проверки не уходят в интернет.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188720"/>
            <a:ext cx="374903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389888"/>
            <a:ext cx="3383280" cy="4572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Только сайты РБ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920240"/>
            <a:ext cx="3383280" cy="13258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Качаем pravo.by, nbrb.by и другие официальные домены. Внешний поиск выключен.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188720"/>
            <a:ext cx="374903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59" y="1389888"/>
            <a:ext cx="3383280" cy="4572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Клиент не в поиск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59" y="1920240"/>
            <a:ext cx="3383280" cy="13258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Выгрузки, договоры и суммы в поисковик не передаются. Поиск в чате выключен.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657600"/>
            <a:ext cx="374903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858768"/>
            <a:ext cx="3383280" cy="4572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Две полки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389120"/>
            <a:ext cx="3383280" cy="13258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Закон и цифры клиента не смешиваются. Excel клиента в базу законов класть нельзя.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657600"/>
            <a:ext cx="374903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3858768"/>
            <a:ext cx="3383280" cy="4572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Только эта машина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389120"/>
            <a:ext cx="3383280" cy="13258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Чат и сервер слушают localhost. С соседнего компьютера контур не открывается.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3657600"/>
            <a:ext cx="374903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3858768"/>
            <a:ext cx="3383280" cy="4572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След вопроса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59" y="4389120"/>
            <a:ext cx="3383280" cy="13258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Какой вопрос задали и из какого фрагмента ответили — пишется в журнал дела.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11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ПОСТАВКА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Коробка, а не стенд разработчика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87552"/>
            <a:ext cx="11155680" cy="38404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Аудитору не нужно выбирать модели и включать поиск. Открыл чат — работает.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1732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5448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docker compose up -d --build     →     http://localhost:3000     →     модель «Аудитор»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359152"/>
            <a:ext cx="3749039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14600"/>
            <a:ext cx="3383280" cy="4114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Уже в коробке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971800"/>
            <a:ext cx="3383280" cy="29718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Чат, сервер и поиск — одна команда.</a:t>
            </a:r>
            <a:br/>
            <a:r>
              <a:t>Модели локально, на хосте банка.</a:t>
            </a:r>
            <a:br/>
            <a:r>
              <a:t>Поиск в чате выключен.</a:t>
            </a:r>
            <a:br/>
            <a:r>
              <a:t>Агент ставится при запуске (нужен ключ администратора).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2359152"/>
            <a:ext cx="3749039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514600"/>
            <a:ext cx="3383280" cy="4114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Качество сразу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971800"/>
            <a:ext cx="3383280" cy="29718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Промпты методолога ВА банка РБ.</a:t>
            </a:r>
            <a:br/>
            <a:r>
              <a:t>Нет фрагмента — отказ, не статья «из памяти».</a:t>
            </a:r>
            <a:br/>
            <a:r>
              <a:t>Нормы РФ / ЕС / IFRS сами не подставляет.</a:t>
            </a:r>
            <a:br/>
            <a:r>
              <a:t>Два стоп-крана: законы и гипотезы.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2359152"/>
            <a:ext cx="3749039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2514600"/>
            <a:ext cx="3383280" cy="4114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Что это даёт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2971800"/>
            <a:ext cx="3383280" cy="29718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Один адрес для аудитора.</a:t>
            </a:r>
            <a:br/>
            <a:r>
              <a:t>Не облачный сервис с файлами банка снаружи.</a:t>
            </a:r>
            <a:br/>
            <a:r>
              <a:t>Можно поставить в контур СВА.</a:t>
            </a:r>
            <a:br/>
            <a:r>
              <a:t>Следующая проверка — тот же чат, новое окно.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12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ИТОГ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Агент, которому можно доверить контур проверки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188720"/>
            <a:ext cx="562356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325880"/>
            <a:ext cx="525780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Что уже можно показать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783080"/>
            <a:ext cx="5257800" cy="29718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Один адрес, модель «Аудитор» в списке.</a:t>
            </a:r>
            <a:br/>
            <a:br/>
            <a:r>
              <a:t>Без «утверждаю» законы не качаются и не идут в заключение.</a:t>
            </a:r>
            <a:br/>
            <a:br/>
            <a:r>
              <a:t>Обзор, программа, гипотезы, мнение, заключение — файлы.</a:t>
            </a:r>
            <a:br/>
            <a:br/>
            <a:r>
              <a:t>«вопрос …» — с цитатой. Нет в библиотеке — отказ.</a:t>
            </a:r>
            <a:br/>
            <a:br/>
            <a:r>
              <a:t>Клиентский текст не уходит в интернет.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188720"/>
            <a:ext cx="5532120" cy="3794760"/>
          </a:xfrm>
          <a:prstGeom prst="roundRect">
            <a:avLst>
              <a:gd name="adj" fmla="val 8000"/>
            </a:avLst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325880"/>
            <a:ext cx="516636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Честная граница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783080"/>
            <a:ext cx="5166360" cy="29718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Закрыт контур «норма → гипотезы → черновик мнения → черновик заключения».</a:t>
            </a:r>
            <a:br/>
            <a:br/>
            <a:r>
              <a:t>Это черновики для правки. Не подписанный акт СВА и не суждение «за аудитора».</a:t>
            </a:r>
            <a:br/>
            <a:br/>
            <a:r>
              <a:t>Дальше по тому же агенту: факты клиента, тесты, рабочие бумаги.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5120640"/>
            <a:ext cx="11338560" cy="1097280"/>
          </a:xfrm>
          <a:prstGeom prst="roundRect">
            <a:avLst>
              <a:gd name="adj" fmla="val 8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230368"/>
            <a:ext cx="10972800" cy="8686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Автоматизация сильна тем, что знает, где остановиться.</a:t>
            </a:r>
            <a:br/>
            <a:r>
              <a:t>Откройте :3000 и начните с одной фразы.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Аудитор — коробочный ИИ-агент внутренней проверки</dc:title>
  <dc:subject>v0.0.1 · внутренний аудит банка РБ · on-prem</dc:subject>
  <dc:creator>Audit Tools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