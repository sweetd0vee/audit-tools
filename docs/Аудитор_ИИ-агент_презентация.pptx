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22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B0C0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B0C0"/>
                </a:solidFill>
                <a:latin typeface="Calibri"/>
              </a:rPr>
              <a:t>1  / 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234440"/>
            <a:ext cx="8200000" cy="320040"/>
          </a:xfrm>
          <a:prstGeom prst="roundRect">
            <a:avLst>
              <a:gd name="adj" fmla="val 20000"/>
            </a:avLst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50800" bIns="5080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1F33"/>
                </a:solidFill>
                <a:latin typeface="Calibri"/>
              </a:rPr>
              <a:t>ВНУТРЕННИЙ АУДИТ  ·  БАНК РБ  ·  ОН-ПРЕМ  ·  v0.0.1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45920"/>
            <a:ext cx="10972800" cy="100584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Аудитор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82240"/>
            <a:ext cx="10515600" cy="86868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D5E0EA"/>
                </a:solidFill>
                <a:latin typeface="Calibri"/>
              </a:rPr>
              <a:t>Коробочный ИИ-агент внутренней аудиторской проверки.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800" b="0">
                <a:solidFill>
                  <a:srgbClr val="D5E0EA"/>
                </a:solidFill>
                <a:latin typeface="Calibri"/>
              </a:rPr>
              <a:t>Минимум своего кода. Максимум качества из готового стека.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297680"/>
            <a:ext cx="2560320" cy="1051560"/>
          </a:xfrm>
          <a:prstGeom prst="roundRect">
            <a:avLst>
              <a:gd name="adj" fmla="val 8000"/>
            </a:avLst>
          </a:prstGeom>
          <a:solidFill>
            <a:srgbClr val="1733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Коробка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compose up → :3000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4297680"/>
            <a:ext cx="2560320" cy="1051560"/>
          </a:xfrm>
          <a:prstGeom prst="roundRect">
            <a:avLst>
              <a:gd name="adj" fmla="val 8000"/>
            </a:avLst>
          </a:prstGeom>
          <a:solidFill>
            <a:srgbClr val="1733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Готовый стек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Open WebUI · Ollama · SearXNG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4297680"/>
            <a:ext cx="2560320" cy="1051560"/>
          </a:xfrm>
          <a:prstGeom prst="roundRect">
            <a:avLst>
              <a:gd name="adj" fmla="val 8000"/>
            </a:avLst>
          </a:prstGeom>
          <a:solidFill>
            <a:srgbClr val="1733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HITL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модель предлагает — аудитор решает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0" y="4297680"/>
            <a:ext cx="2560320" cy="1051560"/>
          </a:xfrm>
          <a:prstGeom prst="roundRect">
            <a:avLst>
              <a:gd name="adj" fmla="val 8000"/>
            </a:avLst>
          </a:prstGeom>
          <a:solidFill>
            <a:srgbClr val="1733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On-prem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данные не уходят в облако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962C"/>
                </a:solidFill>
                <a:latin typeface="Calibri"/>
              </a:rPr>
              <a:t>СОДЕРЖАНИЕ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2233"/>
                </a:solidFill>
                <a:latin typeface="Calibri"/>
              </a:rPr>
              <a:t>О чём эта презентация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2  /  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188720"/>
            <a:ext cx="11155680" cy="78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308720"/>
            <a:ext cx="822960" cy="548640"/>
          </a:xfrm>
          <a:prstGeom prst="rect">
            <a:avLst/>
          </a:prstGeom>
          <a:noFill/>
        </p:spPr>
        <p:txBody>
          <a:bodyPr wrap="square" lIns="127000" rIns="127000" tIns="101600" bIns="10160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C4962C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1278720"/>
            <a:ext cx="9601200" cy="60000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42233"/>
                </a:solidFill>
                <a:latin typeface="Calibri"/>
              </a:rPr>
              <a:t>Зачем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Боль аудитора, инвариант продукта, почему не «ещё один чат».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28720"/>
            <a:ext cx="11155680" cy="78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148720"/>
            <a:ext cx="822960" cy="548640"/>
          </a:xfrm>
          <a:prstGeom prst="rect">
            <a:avLst/>
          </a:prstGeom>
          <a:noFill/>
        </p:spPr>
        <p:txBody>
          <a:bodyPr wrap="square" lIns="127000" rIns="127000" tIns="101600" bIns="10160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C4962C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118720"/>
            <a:ext cx="9601200" cy="60000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42233"/>
                </a:solidFill>
                <a:latin typeface="Calibri"/>
              </a:rPr>
              <a:t>История и функционал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Сеанс до черновика заключения: команды, Word / Excel / zip.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868720"/>
            <a:ext cx="11155680" cy="78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988720"/>
            <a:ext cx="822960" cy="548640"/>
          </a:xfrm>
          <a:prstGeom prst="rect">
            <a:avLst/>
          </a:prstGeom>
          <a:noFill/>
        </p:spPr>
        <p:txBody>
          <a:bodyPr wrap="square" lIns="127000" rIns="127000" tIns="101600" bIns="10160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C4962C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2958720"/>
            <a:ext cx="9601200" cy="60000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42233"/>
                </a:solidFill>
                <a:latin typeface="Calibri"/>
              </a:rPr>
              <a:t>Модели и RAG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Чат, эмбеддинги, реранкер. Как цитата из акта попадает в ответ.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708720"/>
            <a:ext cx="11155680" cy="78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828720"/>
            <a:ext cx="822960" cy="548640"/>
          </a:xfrm>
          <a:prstGeom prst="rect">
            <a:avLst/>
          </a:prstGeom>
          <a:noFill/>
        </p:spPr>
        <p:txBody>
          <a:bodyPr wrap="square" lIns="127000" rIns="127000" tIns="101600" bIns="10160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C4962C"/>
                </a:solidFill>
                <a:latin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3798720"/>
            <a:ext cx="9601200" cy="60000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42233"/>
                </a:solidFill>
                <a:latin typeface="Calibri"/>
              </a:rPr>
              <a:t>Агент и HITL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Function Pipe, фазы кодом, два стоп-крана: НПА и гипотезы.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548720"/>
            <a:ext cx="11155680" cy="78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668720"/>
            <a:ext cx="822960" cy="548640"/>
          </a:xfrm>
          <a:prstGeom prst="rect">
            <a:avLst/>
          </a:prstGeom>
          <a:noFill/>
        </p:spPr>
        <p:txBody>
          <a:bodyPr wrap="square" lIns="127000" rIns="127000" tIns="101600" bIns="10160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C4962C"/>
                </a:solidFill>
                <a:latin typeface="Calibr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638720"/>
            <a:ext cx="9601200" cy="60000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42233"/>
                </a:solidFill>
                <a:latin typeface="Calibri"/>
              </a:rPr>
              <a:t>Коробка и контур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Готовый стек, on-prem, поставка одной командой.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388720"/>
            <a:ext cx="11155680" cy="78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508720"/>
            <a:ext cx="822960" cy="548640"/>
          </a:xfrm>
          <a:prstGeom prst="rect">
            <a:avLst/>
          </a:prstGeom>
          <a:noFill/>
        </p:spPr>
        <p:txBody>
          <a:bodyPr wrap="square" lIns="127000" rIns="127000" tIns="101600" bIns="10160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C4962C"/>
                </a:solidFill>
                <a:latin typeface="Calibri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5478720"/>
            <a:ext cx="9601200" cy="60000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42233"/>
                </a:solidFill>
                <a:latin typeface="Calibri"/>
              </a:rPr>
              <a:t>Эффект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Что автоматизируется сегодня и где человек остаётся обязательным.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962C"/>
                </a:solidFill>
                <a:latin typeface="Calibri"/>
              </a:rPr>
              <a:t>КОНТЕКСТ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2233"/>
                </a:solidFill>
                <a:latin typeface="Calibri"/>
              </a:rPr>
              <a:t>Каждую проверку аудитор собирает заново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3  /  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188720"/>
            <a:ext cx="5608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188720"/>
            <a:ext cx="109728" cy="114300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308720"/>
            <a:ext cx="5143500" cy="90000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01   Вспомнить НПА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ГК, НК, инструкции НБРБ, акты Минфина и МНС — по теме этой недели.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448720"/>
            <a:ext cx="5608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2448720"/>
            <a:ext cx="109728" cy="114300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68720"/>
            <a:ext cx="5143500" cy="90000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02   Найти редакцию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pravo.by / nbrb.by, актуальный текст, не методичка с форума.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708720"/>
            <a:ext cx="5608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3708720"/>
            <a:ext cx="109728" cy="114300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28720"/>
            <a:ext cx="5143500" cy="90000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03   Вычитать кодекс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Десятки страниц, чтобы вытащить 5–7 норм в рабочую бумагу.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968720"/>
            <a:ext cx="5608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4968720"/>
            <a:ext cx="109728" cy="114300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088720"/>
            <a:ext cx="5143500" cy="90000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04   Собрать документы СВА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Программа, гипотезы, мнение, заключение — вручную, каждый раз с нуля.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188720"/>
            <a:ext cx="5425440" cy="4920000"/>
          </a:xfrm>
          <a:prstGeom prst="roundRect">
            <a:avLst>
              <a:gd name="adj" fmla="val 4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28600" tIns="1016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200" b="1">
                <a:solidFill>
                  <a:srgbClr val="C4962C"/>
                </a:solidFill>
                <a:latin typeface="Calibri"/>
              </a:rPr>
              <a:t>РАЗРЫВ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Модель без документов</a:t>
            </a:r>
          </a:p>
          <a:p>
            <a:pPr algn="l">
              <a:spcBef>
                <a:spcPts val="0"/>
              </a:spcBef>
              <a:spcAft>
                <a:spcPts val="1800"/>
              </a:spcAft>
            </a:pPr>
            <a:r>
              <a:rPr sz="1600" b="0">
                <a:solidFill>
                  <a:srgbClr val="D5E0EA"/>
                </a:solidFill>
                <a:latin typeface="Calibri"/>
              </a:rPr>
              <a:t>галлюцинирует статьи.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Документы без модели</a:t>
            </a:r>
          </a:p>
          <a:p>
            <a:pPr algn="l">
              <a:spcBef>
                <a:spcPts val="0"/>
              </a:spcBef>
              <a:spcAft>
                <a:spcPts val="2200"/>
              </a:spcAft>
            </a:pPr>
            <a:r>
              <a:rPr sz="1600" b="0">
                <a:solidFill>
                  <a:srgbClr val="D5E0EA"/>
                </a:solidFill>
                <a:latin typeface="Calibri"/>
              </a:rPr>
              <a:t>не масштабируются.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4962C"/>
                </a:solidFill>
                <a:latin typeface="Calibri"/>
              </a:rPr>
              <a:t>Нужен RAG + доменный сервер: модель думает, НПА доказывают, аудитор подтверждает.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962C"/>
                </a:solidFill>
                <a:latin typeface="Calibri"/>
              </a:rPr>
              <a:t>ПРОДУКТ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2233"/>
                </a:solidFill>
                <a:latin typeface="Calibri"/>
              </a:rPr>
              <a:t>Коробка: готовые тулзы, тонкий свой слой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05840"/>
            <a:ext cx="11155680" cy="41148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Не пишем платформу. Берём стек, который уже умеет чат, модель и поиск. Свой код — только там, где рынка нет.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4  /  17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481328"/>
            <a:ext cx="3749039" cy="3657600"/>
          </a:xfrm>
          <a:prstGeom prst="roundRect">
            <a:avLst>
              <a:gd name="adj" fmla="val 4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77800" tIns="2286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Берём готовое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·  Open WebUI — чат, auth, файлы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·  Ollama — LLM, embed, rerank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·  SearXNG — поиск по allowlist РБ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·  python-docx / openpyxl — Word, Excel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·  Docker Compose — одна команда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481328"/>
            <a:ext cx="3749039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77800" tIns="2286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Пишем тонко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Function Pipe «Аудитор» — один файл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Audit Tool Server — кейс и HITL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Добыча НПА РБ и нарезка по статьям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Промпты методолога внутренней проверки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Сборка .docx / .xlsx по шаблону банка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1481328"/>
            <a:ext cx="3749039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77800" tIns="2286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Не пишем вовсе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Свой чат и продуктовый React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Форк Open WebUI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Свой LLM-рантайм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Свой поисковик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Свой редактор рабочих бумаг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5288280"/>
            <a:ext cx="11338560" cy="960120"/>
          </a:xfrm>
          <a:prstGeom prst="rect">
            <a:avLst/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425440"/>
            <a:ext cx="11049000" cy="685800"/>
          </a:xfrm>
          <a:prstGeom prst="rect">
            <a:avLst/>
          </a:prstGeom>
          <a:noFill/>
        </p:spPr>
        <p:txBody>
          <a:bodyPr wrap="square" lIns="127000" rIns="127000" tIns="101600" bIns="10160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42233"/>
                </a:solidFill>
                <a:latin typeface="Calibri"/>
              </a:rPr>
              <a:t>Принцип: минимум своего кода → максимум качества. Дефолты RAG, модели, температура, allowlist и стоп-кран уже в коробке — аудитор не собирает стек руками.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962C"/>
                </a:solidFill>
                <a:latin typeface="Calibri"/>
              </a:rPr>
              <a:t>ИНВАРИАНТ ПРОДУКТА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2233"/>
                </a:solidFill>
                <a:latin typeface="Calibri"/>
              </a:rPr>
              <a:t>Модель не ставит суждение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5  /  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188720"/>
            <a:ext cx="11338560" cy="1371600"/>
          </a:xfrm>
          <a:prstGeom prst="roundRect">
            <a:avLst>
              <a:gd name="adj" fmla="val 4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5600" rIns="355600" tIns="1016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«Модель ускоряет поиск нормы и черновик обзора. Она не ставит аудиторское суждение и не заменяет чтение первоисточника. Цитата проверяется по файлу в кейсе.»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743200"/>
            <a:ext cx="3749039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03200" tIns="1016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C4962C"/>
                </a:solidFill>
                <a:latin typeface="Calibri"/>
              </a:rPr>
              <a:t>Ускоряет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D4F61"/>
                </a:solidFill>
                <a:latin typeface="Calibri"/>
              </a:rPr>
              <a:t>Библиотека НПА, саммари, программа, гипотезы, черновики мнения и заключения.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743200"/>
            <a:ext cx="3749039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03200" tIns="1016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C4962C"/>
                </a:solidFill>
                <a:latin typeface="Calibri"/>
              </a:rPr>
              <a:t>Не подписывает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D4F61"/>
                </a:solidFill>
                <a:latin typeface="Calibri"/>
              </a:rPr>
              <a:t>Нет вывода «нарушение установлено». Нет автоподписи АЗ и WP.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2743200"/>
            <a:ext cx="3749039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03200" tIns="1016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C4962C"/>
                </a:solidFill>
                <a:latin typeface="Calibri"/>
              </a:rPr>
              <a:t>Сверяется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D4F61"/>
                </a:solidFill>
                <a:latin typeface="Calibri"/>
              </a:rPr>
              <a:t>Блок «Откуда в базе знаний» + zip первоисточника в папке кейса.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962C"/>
                </a:solidFill>
                <a:latin typeface="Calibri"/>
              </a:rPr>
              <a:t>ПОЛЬЗОВАТЕЛЬСКАЯ ИСТОРИЯ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2233"/>
                </a:solidFill>
                <a:latin typeface="Calibri"/>
              </a:rPr>
              <a:t>Внутренний аудитор банка, проверка аренды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05840"/>
            <a:ext cx="11155680" cy="41148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Тема недели: аренда коммерческой недвижимости — валютные расчёты, НДС, договоры с нерезидентами.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6  /  17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481328"/>
            <a:ext cx="5486400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9400" rIns="127000" tIns="2286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C4962C"/>
                </a:solidFill>
                <a:latin typeface="Calibri"/>
              </a:rPr>
              <a:t>РАНЬШЕ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▸  Вспоминаю акты по памяти и старым WP.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▸  Ищу редакции на pravo.by вкладками.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▸  Читаю ГК/НК целиком «на всякий случай».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▸  Программу и гипотезы собираю с нуля.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▸  Мнение и заключение пишу вручную.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▸  Риск: устаревшая редакция или чужая юрисдикция.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0776" y="1481328"/>
            <a:ext cx="5486400" cy="4572000"/>
          </a:xfrm>
          <a:prstGeom prst="roundRect">
            <a:avLst>
              <a:gd name="adj" fmla="val 4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9400" rIns="127000" tIns="2286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C4962C"/>
                </a:solidFill>
                <a:latin typeface="Calibri"/>
              </a:rPr>
              <a:t>ТЕПЕРЬ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D5E0EA"/>
                </a:solidFill>
                <a:latin typeface="Calibri"/>
              </a:rPr>
              <a:t>▸  Одной фразой описываю проверку в чате.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D5E0EA"/>
                </a:solidFill>
                <a:latin typeface="Calibri"/>
              </a:rPr>
              <a:t>▸  Утверждаю список НПА — без этого ничего не качается.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D5E0EA"/>
                </a:solidFill>
                <a:latin typeface="Calibri"/>
              </a:rPr>
              <a:t>▸  саммари и программа — Word со ссылками.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D5E0EA"/>
                </a:solidFill>
                <a:latin typeface="Calibri"/>
              </a:rPr>
              <a:t>▸  гипотезы — Excel-чеклист; подтверждаю номера.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D5E0EA"/>
                </a:solidFill>
                <a:latin typeface="Calibri"/>
              </a:rPr>
              <a:t>▸  аудиторское мнение — раздел I для руководства.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D5E0EA"/>
                </a:solidFill>
                <a:latin typeface="Calibri"/>
              </a:rPr>
              <a:t>▸  вопрос … — цитата из утверждённого акта, не из памяти.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962C"/>
                </a:solidFill>
                <a:latin typeface="Calibri"/>
              </a:rPr>
              <a:t>СЦЕНАРИЙ СЕАНСА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2233"/>
                </a:solidFill>
                <a:latin typeface="Calibri"/>
              </a:rPr>
              <a:t>Один чат = одна проверка до черновика АЗ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7  /  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261872"/>
            <a:ext cx="27432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27000" tIns="2032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C4962C"/>
                </a:solidFill>
                <a:latin typeface="Calibri"/>
              </a:rPr>
              <a:t>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Описать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Проверка аренды…,
аренда, валюта, НДС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261872"/>
            <a:ext cx="27432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27000" tIns="2032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C4962C"/>
                </a:solidFill>
                <a:latin typeface="Calibri"/>
              </a:rPr>
              <a:t>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Утвердить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утверждаю 1, 2, 4
плюс Инструкция 38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61872"/>
            <a:ext cx="27432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27000" tIns="2032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C4962C"/>
                </a:solidFill>
                <a:latin typeface="Calibri"/>
              </a:rPr>
              <a:t>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Читать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саммари
программа проверки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560" y="1261872"/>
            <a:ext cx="27432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27000" tIns="2032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C4962C"/>
                </a:solidFill>
                <a:latin typeface="Calibri"/>
              </a:rPr>
              <a:t>4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Планировать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гипотезы
Excel-чеклист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730752"/>
            <a:ext cx="27432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27000" tIns="2032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C4962C"/>
                </a:solidFill>
                <a:latin typeface="Calibri"/>
              </a:rPr>
              <a:t>5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Подтвердить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утверждаю гипотезы
1, 3, 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3730752"/>
            <a:ext cx="27432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27000" tIns="2032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C4962C"/>
                </a:solidFill>
                <a:latin typeface="Calibri"/>
              </a:rPr>
              <a:t>6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Мнение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аудиторское мнение
раздел I, 2–4 стр.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730752"/>
            <a:ext cx="27432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27000" tIns="2032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C4962C"/>
                </a:solidFill>
                <a:latin typeface="Calibri"/>
              </a:rPr>
              <a:t>7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Заключение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аудиторское заключение
полный черновик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52560" y="3730752"/>
            <a:ext cx="27432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27000" tIns="2032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C4962C"/>
                </a:solidFill>
                <a:latin typeface="Calibri"/>
              </a:rPr>
              <a:t>8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Спросить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вопрос Какой срок
регистрации аренды?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962C"/>
                </a:solidFill>
                <a:latin typeface="Calibri"/>
              </a:rPr>
              <a:t>ФУНКЦИОНАЛ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2233"/>
                </a:solidFill>
                <a:latin typeface="Calibri"/>
              </a:rPr>
              <a:t>Что умеет агент сегодня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8  /  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188720"/>
            <a:ext cx="2816352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188720"/>
            <a:ext cx="109728" cy="228600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348740"/>
            <a:ext cx="2423160" cy="196596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42233"/>
                </a:solidFill>
                <a:latin typeface="Calibri"/>
              </a:rPr>
              <a:t>Библиотека НПА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4F61"/>
                </a:solidFill>
                <a:latin typeface="Calibri"/>
              </a:rPr>
              <a:t>Propose → HITL → download с allowlist РБ. extra_titles, ручной URL, known_sources.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0128" y="1188720"/>
            <a:ext cx="2816352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10128" y="1188720"/>
            <a:ext cx="109728" cy="228600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8728" y="1348740"/>
            <a:ext cx="2423160" cy="196596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42233"/>
                </a:solidFill>
                <a:latin typeface="Calibri"/>
              </a:rPr>
              <a:t>Саммари Word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4F61"/>
                </a:solidFill>
                <a:latin typeface="Calibri"/>
              </a:rPr>
              <a:t>Карточка по каждому акту + обзор проверки + приложение фрагментов [n].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1188720"/>
            <a:ext cx="2816352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54496" y="1188720"/>
            <a:ext cx="109728" cy="228600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3096" y="1348740"/>
            <a:ext cx="2423160" cy="196596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42233"/>
                </a:solidFill>
                <a:latin typeface="Calibri"/>
              </a:rPr>
              <a:t>Программа проверки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4F61"/>
                </a:solidFill>
                <a:latin typeface="Calibri"/>
              </a:rPr>
              <a:t>Черновик СВА: цель, риски, процедуры, критерии по праву РБ.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98864" y="1188720"/>
            <a:ext cx="2816352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98864" y="1188720"/>
            <a:ext cx="109728" cy="228600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27464" y="1348740"/>
            <a:ext cx="2423160" cy="196596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42233"/>
                </a:solidFill>
                <a:latin typeface="Calibri"/>
              </a:rPr>
              <a:t>Гипотезы Excel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4F61"/>
                </a:solidFill>
                <a:latin typeface="Calibri"/>
              </a:rPr>
              <a:t>8–10 гипотез для проверки. В мнение идут только подтверждённые.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3657600"/>
            <a:ext cx="2816352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3657600"/>
            <a:ext cx="109728" cy="2286000"/>
          </a:xfrm>
          <a:prstGeom prst="rect">
            <a:avLst/>
          </a:prstGeom>
          <a:solidFill>
            <a:srgbClr val="2F8F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3817620"/>
            <a:ext cx="2423160" cy="196596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42233"/>
                </a:solidFill>
                <a:latin typeface="Calibri"/>
              </a:rPr>
              <a:t>Аудиторское мнение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4F61"/>
                </a:solidFill>
                <a:latin typeface="Calibri"/>
              </a:rPr>
              <a:t>Раздел I заключения: 2–4 стр. для руководства. Только после HITL по гипотезам.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10128" y="3657600"/>
            <a:ext cx="2816352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10128" y="3657600"/>
            <a:ext cx="109728" cy="2286000"/>
          </a:xfrm>
          <a:prstGeom prst="rect">
            <a:avLst/>
          </a:prstGeom>
          <a:solidFill>
            <a:srgbClr val="2F8F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38728" y="3817620"/>
            <a:ext cx="2423160" cy="196596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42233"/>
                </a:solidFill>
                <a:latin typeface="Calibri"/>
              </a:rPr>
              <a:t>Аудиторское заключение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4F61"/>
                </a:solidFill>
                <a:latin typeface="Calibri"/>
              </a:rPr>
              <a:t>Полный черновик: титул, содержание, мнение, наблюдения. Не акт СВА.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54496" y="3657600"/>
            <a:ext cx="2816352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54496" y="3657600"/>
            <a:ext cx="109728" cy="2286000"/>
          </a:xfrm>
          <a:prstGeom prst="rect">
            <a:avLst/>
          </a:prstGeom>
          <a:solidFill>
            <a:srgbClr val="2F8F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83096" y="3817620"/>
            <a:ext cx="2423160" cy="196596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42233"/>
                </a:solidFill>
                <a:latin typeface="Calibri"/>
              </a:rPr>
              <a:t>Вопрос по базе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4F61"/>
                </a:solidFill>
                <a:latin typeface="Calibri"/>
              </a:rPr>
              <a:t>Префикс «вопрос …» → RAG + блок «Откуда в базе знаний».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98864" y="3657600"/>
            <a:ext cx="2816352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198864" y="3657600"/>
            <a:ext cx="109728" cy="2286000"/>
          </a:xfrm>
          <a:prstGeom prst="rect">
            <a:avLst/>
          </a:prstGeom>
          <a:solidFill>
            <a:srgbClr val="2F8F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27464" y="3817620"/>
            <a:ext cx="2423160" cy="196596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42233"/>
                </a:solidFill>
                <a:latin typeface="Calibri"/>
              </a:rPr>
              <a:t>Система записи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4F61"/>
                </a:solidFill>
                <a:latin typeface="Calibri"/>
              </a:rPr>
              <a:t>Кейс на диске: статусы, манифест, sha256, zip первоисточников.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962C"/>
                </a:solidFill>
                <a:latin typeface="Calibri"/>
              </a:rPr>
              <a:t>ВЫХОДЫ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2233"/>
                </a:solidFill>
                <a:latin typeface="Calibri"/>
              </a:rPr>
              <a:t>Артефакты, которые аудитор уносит из чата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05840"/>
            <a:ext cx="11155680" cy="41148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Мнение и заключение собираются только из гипотез, которые аудитор подтвердил. Неподтверждённые в промпт не кладём.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9  /  17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450848"/>
            <a:ext cx="3749039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27000" tIns="2032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C4962C"/>
                </a:solidFill>
                <a:latin typeface="Calibri"/>
              </a:rPr>
              <a:t>.zip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42233"/>
                </a:solidFill>
                <a:latin typeface="Calibri"/>
              </a:rPr>
              <a:t>Библиотека НПА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Первоисточники HTML/PDF, которые вы утвердили — не «то, что модель вспомнила».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450848"/>
            <a:ext cx="3749039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27000" tIns="2032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C4962C"/>
                </a:solidFill>
                <a:latin typeface="Calibri"/>
              </a:rPr>
              <a:t>.docx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42233"/>
                </a:solidFill>
                <a:latin typeface="Calibri"/>
              </a:rPr>
              <a:t>Обзор актов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Нормативный контур проверки, карточки существенного, ссылки на статьи.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1450848"/>
            <a:ext cx="3749039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27000" tIns="2032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C4962C"/>
                </a:solidFill>
                <a:latin typeface="Calibri"/>
              </a:rPr>
              <a:t>.docx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42233"/>
                </a:solidFill>
                <a:latin typeface="Calibri"/>
              </a:rPr>
              <a:t>Программа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Черновик программы аудиторской проверки банка РБ. Не подпись руководителя СВА.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828288"/>
            <a:ext cx="3749039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27000" tIns="2032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C4962C"/>
                </a:solidFill>
                <a:latin typeface="Calibri"/>
              </a:rPr>
              <a:t>.xlsx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42233"/>
                </a:solidFill>
                <a:latin typeface="Calibri"/>
              </a:rPr>
              <a:t>Гипотезы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Чеклист 8–10 гипотез: что смотреть, на что опираться, статус для HITL.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3828288"/>
            <a:ext cx="3749039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27000" tIns="2032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C4962C"/>
                </a:solidFill>
                <a:latin typeface="Calibri"/>
              </a:rPr>
              <a:t>.docx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42233"/>
                </a:solidFill>
                <a:latin typeface="Calibri"/>
              </a:rPr>
              <a:t>Мнение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Раздел I: цели, инструменты, агрегированный взгляд. Черновик для правки.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80" y="3828288"/>
            <a:ext cx="3749039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27000" tIns="2032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C4962C"/>
                </a:solidFill>
                <a:latin typeface="Calibri"/>
              </a:rPr>
              <a:t>.docx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42233"/>
                </a:solidFill>
                <a:latin typeface="Calibri"/>
              </a:rPr>
              <a:t>Заключение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Титул, содержание, раздел I, наблюдения. Не акт СВА.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962C"/>
                </a:solidFill>
                <a:latin typeface="Calibri"/>
              </a:rPr>
              <a:t>АРХИТЕКТУРА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2233"/>
                </a:solidFill>
                <a:latin typeface="Calibri"/>
              </a:rPr>
              <a:t>Сборка готового, не форк и не свой чат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10  /  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188720"/>
            <a:ext cx="11247120" cy="114300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4800" rIns="127000" tIns="1016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4962C"/>
                </a:solidFill>
                <a:latin typeface="Calibri"/>
              </a:rPr>
              <a:t>ПОВЕРХНОСТЬ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Open WebUI — чат, auth, файлы, статусы. Свой React не пишем.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50592"/>
            <a:ext cx="11247120" cy="1143000"/>
          </a:xfrm>
          <a:prstGeom prst="roundRect">
            <a:avLst>
              <a:gd name="adj" fmla="val 6000"/>
            </a:avLst>
          </a:prstGeom>
          <a:solidFill>
            <a:srgbClr val="1E5F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4800" rIns="127000" tIns="1016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4962C"/>
                </a:solidFill>
                <a:latin typeface="Calibri"/>
              </a:rPr>
              <a:t>КЛЕЙ АГЕНТА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Function Pipe «Аудитор» 0.0.1. Фазы кодом. Без бизнес-логики внутри.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12464"/>
            <a:ext cx="11247120" cy="1143000"/>
          </a:xfrm>
          <a:prstGeom prst="roundRect">
            <a:avLst>
              <a:gd name="adj" fmla="val 6000"/>
            </a:avLst>
          </a:prstGeom>
          <a:solidFill>
            <a:srgbClr val="3A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4800" rIns="127000" tIns="1016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4962C"/>
                </a:solidFill>
                <a:latin typeface="Calibri"/>
              </a:rPr>
              <a:t>ЯДРО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Audit Tool Server: кейс, HITL, НПА РБ, RAG, Word мнения и заключения.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974336"/>
            <a:ext cx="11247120" cy="1143000"/>
          </a:xfrm>
          <a:prstGeom prst="roundRect">
            <a:avLst>
              <a:gd name="adj" fmla="val 6000"/>
            </a:avLst>
          </a:prstGeom>
          <a:solidFill>
            <a:srgbClr val="3D4F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4800" rIns="127000" tIns="1016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4962C"/>
                </a:solidFill>
                <a:latin typeface="Calibri"/>
              </a:rPr>
              <a:t>ИНФРА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Ollama (чат + embed + rerank) · SearXNG (allowlist) · диск кейса. DuckDB — план.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962C"/>
                </a:solidFill>
                <a:latin typeface="Calibri"/>
              </a:rPr>
              <a:t>МОДЕЛИ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2233"/>
                </a:solidFill>
                <a:latin typeface="Calibri"/>
              </a:rPr>
              <a:t>Три роли в Ollama — не одна «нейросеть»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05840"/>
            <a:ext cx="11155680" cy="41148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Все три крутятся локально на хосте банка. Сменили embedding — без reindex поиск бессмысленный: векторы из разных пространств.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11  /  17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481328"/>
            <a:ext cx="3749039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77800" tIns="2286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4962C"/>
                </a:solidFill>
                <a:latin typeface="Calibri"/>
              </a:rPr>
              <a:t>ЧАТ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800" b="1">
                <a:solidFill>
                  <a:srgbClr val="142233"/>
                </a:solidFill>
                <a:latin typeface="Calibri"/>
              </a:rPr>
              <a:t>qwen3.8:27b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Propose списка НПА, саммари, программа, гипотезы, мнение, заключение, обычный чат.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Окно контекста 32 768 токенов — иначе RAG-фрагменты обрежутся.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Температура 0.1–0.2 на сервере, не слайдер чата.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Не уходит в OpenAI / облако.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481328"/>
            <a:ext cx="3749039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77800" tIns="2286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4962C"/>
                </a:solidFill>
                <a:latin typeface="Calibri"/>
              </a:rPr>
              <a:t>ЭМБЕДДИНГИ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800" b="1">
                <a:solidFill>
                  <a:srgbClr val="142233"/>
                </a:solidFill>
                <a:latin typeface="Calibri"/>
              </a:rPr>
              <a:t>qwen3-embedding:latest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Текст → вектор. Одна модель на ingest и на вопрос.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Нужна для юридического русского и номеров статей.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Не MiniLM (дефолт Open WebUI, 384 dim, слабый на НПА РБ).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Движок: Ollama, не SentenceTransformers в контейнере.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1481328"/>
            <a:ext cx="3749039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77800" tIns="2286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4962C"/>
                </a:solidFill>
                <a:latin typeface="Calibri"/>
              </a:rPr>
              <a:t>РЕРАНКЕР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800" b="1">
                <a:solidFill>
                  <a:srgbClr val="142233"/>
                </a:solidFill>
                <a:latin typeface="Calibri"/>
              </a:rPr>
              <a:t>Qwen3-Reranker-0.6B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После hybrid пересортирует пары (вопрос, чанк).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Локальный стенд-ин: dengcao/Qwen3-Reranker-0.6B:Q8_0.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Пул кандидатов до реранка — 24, в LLM уходит top-k 16.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Пустая настройка = skip; качество тогда хуже на близких статьях.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962C"/>
                </a:solidFill>
                <a:latin typeface="Calibri"/>
              </a:rPr>
              <a:t>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2233"/>
                </a:solidFill>
                <a:latin typeface="Calibri"/>
              </a:rPr>
              <a:t>Модель думает. Документы доказывают.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05840"/>
            <a:ext cx="11155680" cy="41148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RAG не дообучает модель. На каждый «вопрос …» он кладёт в промпт куски утверждённых актов. Нет куска — нет статьи.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12  /  17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450848"/>
            <a:ext cx="5806440" cy="4663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27000" tIns="2032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Конвейер «вопрос …»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1.  Только префикс «вопрос» — иначе это не норма, а обычный чат.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2.  Эмбеддинг вопроса той же моделью, что индекс: qwen3-embedding.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3.  Hybrid: BM25 + слова + cosine → RRF. Чанкер по «Статья N».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4.  Qwen3-Reranker пересортирует кандидатов, затем MMR и соседи.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5.  В промпт — только фрагменты. Нет во фрагментах — отказ. Не нормы РФ / ЕС / IFRS.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6.  Pipe дописывает блок «Откуда в базе знаний», даже если ответ гладкий.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7.  Веб-поиска на этом шаге нет. SearXNG — только добыча в библиотеку.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450848"/>
            <a:ext cx="5349240" cy="2103120"/>
          </a:xfrm>
          <a:prstGeom prst="roundRect">
            <a:avLst>
              <a:gd name="adj" fmla="val 4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27000" tIns="2032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Норма  ≠  факт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Норма — НПА в knowledge_*. Ответ: RAG + цитата статьи.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Факт — выгрузки клиента. Ответ: SQL / tools (план). Excel в Knowledge не кладём.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721104"/>
            <a:ext cx="5349240" cy="23931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27000" tIns="2032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Числа из коробки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Чанк 1600 · overlap 180 · top-k 16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Контекст чата 32k · hybrid on · MiniLM выключен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Источник истины — блок цитат и файл в zip, не красноречие абзаца.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962C"/>
                </a:solidFill>
                <a:latin typeface="Calibri"/>
              </a:rPr>
              <a:t>АГЕНТ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2233"/>
                </a:solidFill>
                <a:latin typeface="Calibri"/>
              </a:rPr>
              <a:t>Фаза выбирается кодом, не моделью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05840"/>
            <a:ext cx="11155680" cy="41148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Это не свободный ReAct. Локальная 27B не решает, какой tool вызвать. Сообщение входит в Pipe «Аудитор» 0.0.1.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13  /  17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481328"/>
            <a:ext cx="5029200" cy="4572000"/>
          </a:xfrm>
          <a:prstGeom prst="roundRect">
            <a:avLst>
              <a:gd name="adj" fmla="val 4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4000" rIns="127000" tIns="2286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Function Pipe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D5E0EA"/>
                </a:solidFill>
                <a:latin typeface="Calibri"/>
              </a:rPr>
              <a:t>class Pipe появляется в списке как модель «Аудитор». Не иконка ol.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D5E0EA"/>
                </a:solidFill>
                <a:latin typeface="Calibri"/>
              </a:rPr>
              <a:t>Фазу выбирает Python. Модель вызывается точечно: propose, саммари, вопрос, мнение.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D5E0EA"/>
                </a:solidFill>
                <a:latin typeface="Calibri"/>
              </a:rPr>
              <a:t>Native function calling — запасной путь: 27B плохо держит tools и может скачать без «утверждаю».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D5E0EA"/>
                </a:solidFill>
                <a:latin typeface="Calibri"/>
              </a:rPr>
              <a:t>Бизнес-логики в Pipe нет: маршрут + HTTP на FastAPI + формат ответа.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1481328"/>
            <a:ext cx="61264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27000" tIns="1016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42233"/>
                </a:solidFill>
                <a:latin typeface="Calibri"/>
              </a:rPr>
              <a:t>1   вопрос …     ·     RAG по индексу кейса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23560" y="2243328"/>
            <a:ext cx="61264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27000" tIns="1016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42233"/>
                </a:solidFill>
                <a:latin typeface="Calibri"/>
              </a:rPr>
              <a:t>2   утверждаю / скачай     ·     HITL, без LLM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23560" y="3005328"/>
            <a:ext cx="61264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27000" tIns="1016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42233"/>
                </a:solidFill>
                <a:latin typeface="Calibri"/>
              </a:rPr>
              <a:t>3   саммари / программа / гипотезы     ·     Word / Excel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3767328"/>
            <a:ext cx="61264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27000" tIns="1016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42233"/>
                </a:solidFill>
                <a:latin typeface="Calibri"/>
              </a:rPr>
              <a:t>4   мнение / заключение     ·     черновики СВА после HITL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529328"/>
            <a:ext cx="61264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27000" tIns="1016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42233"/>
                </a:solidFill>
                <a:latin typeface="Calibri"/>
              </a:rPr>
              <a:t>5   описание проверки     ·     create + propose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23560" y="5291328"/>
            <a:ext cx="61264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27000" tIns="1016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42233"/>
                </a:solidFill>
                <a:latin typeface="Calibri"/>
              </a:rPr>
              <a:t>6   иначе     ·     обычный чат, не цитата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962C"/>
                </a:solidFill>
                <a:latin typeface="Calibri"/>
              </a:rPr>
              <a:t>HUMAN-IN-THE-LOOP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2233"/>
                </a:solidFill>
                <a:latin typeface="Calibri"/>
              </a:rPr>
              <a:t>Два стоп-крана: НПА и гипотезы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14  /  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188720"/>
            <a:ext cx="2194560" cy="196596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>
            <a:no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LLM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JSON со списком
8–15 актов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72088" y="1188720"/>
            <a:ext cx="219456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>
            <a:no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Pipe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Нумерует, просит
«утверждаю»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78416" y="1188720"/>
            <a:ext cx="2194560" cy="1965960"/>
          </a:xfrm>
          <a:prstGeom prst="roundRect">
            <a:avLst>
              <a:gd name="adj" fmla="val 6000"/>
            </a:avLst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>
            <a:no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Человек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Номера, плюс,
URL, отказ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84744" y="1188720"/>
            <a:ext cx="2194560" cy="196596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>
            <a:no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Сервер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select → download
только после HITL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91072" y="1188720"/>
            <a:ext cx="2194560" cy="196596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>
            <a:no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Индекс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Статьи, embeddings,
библиотека кейса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383280"/>
            <a:ext cx="3749039" cy="2651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3200" rIns="127000" tIns="2032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42233"/>
                </a:solidFill>
                <a:latin typeface="Calibri"/>
              </a:rPr>
              <a:t>Где модель молчит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утверждаю, плюс, скачай, утверждаю гипотезы, документы, статус, помощь — чистый код. Галлюцинация статьи здесь невозможна.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3383280"/>
            <a:ext cx="3749039" cy="2651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3200" rIns="127000" tIns="2032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42233"/>
                </a:solidFill>
                <a:latin typeface="Calibri"/>
              </a:rPr>
              <a:t>Где модель говорит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propose (JSON), саммари, total, программа, гипотезы, мнение, заключение, вопрос по фрагментам, обычный чат.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3383280"/>
            <a:ext cx="3749039" cy="2651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3200" rIns="127000" tIns="2032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42233"/>
                </a:solidFill>
                <a:latin typeface="Calibri"/>
              </a:rPr>
              <a:t>Второй стоп-кран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Без «утверждаю гипотезы …» нет мнения и заключения. Неподтверждённые гипотезы в промпт не кладём.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962C"/>
                </a:solidFill>
                <a:latin typeface="Calibri"/>
              </a:rPr>
              <a:t>КОНФИДЕНЦИАЛЬНОСТЬ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2233"/>
                </a:solidFill>
                <a:latin typeface="Calibri"/>
              </a:rPr>
              <a:t>Работа с чувствительными данными — by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15  /  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188720"/>
            <a:ext cx="3749039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27000" tIns="2032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On-prem LLM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Ollama на хосте банка. qwen3.8:27b не уходит в OpenAI / облако. Формулировки проверки остаются в контуре.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188720"/>
            <a:ext cx="3749039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27000" tIns="2032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Allowlist РБ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pravo.by, nbrb.by, minfin, nalog, government, president. Defense in depth: SearXNG и сервер.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188720"/>
            <a:ext cx="3749039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27000" tIns="2032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Клиент ≠ поиск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Выгрузки, договоры, суммы в SearXNG не передаются. Веб-поиск в чате выключен.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657600"/>
            <a:ext cx="3749039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27000" tIns="2032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Две вселенные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Норма и факт не смешиваются в одной Knowledge. Скрепка с Excel клиента — запрещённый путь.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3657600"/>
            <a:ext cx="3749039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27000" tIns="2032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Air-gap готовность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Образы и веса моделей едут файлами, не качаются с Hugging Face в банке.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3657600"/>
            <a:ext cx="3749039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27000" tIns="2032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Аудит действий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case.json, manifest (URL, sha256), статусы created → ready. Trail вызовов — в плане.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962C"/>
                </a:solidFill>
                <a:latin typeface="Calibri"/>
              </a:rPr>
              <a:t>ПОСТАВКА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2233"/>
                </a:solidFill>
                <a:latin typeface="Calibri"/>
              </a:rPr>
              <a:t>Коробочное решение, не стенд разработчика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05840"/>
            <a:ext cx="11155680" cy="41148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Если аудитор должен выбрать embedding, включить hybrid и привязать Knowledge — это не продукт.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16  /  17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450848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docker compose up -d --build     →     http://localhost:3000     →     модель «Аудитор»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404872"/>
            <a:ext cx="3749039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3200" rIns="127000" tIns="2032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Уже в коробке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Open WebUI + backend + SearXNG в одном compose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Ollama на хосте: чат 27B + embedding + rerank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RAG: hybrid, qwen embedding, top-k 16, ctx 32k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Веб-поиск выключен, имя продукта — «Аудитор»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Pipe — один Python-файл, без форка Open WebUI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2404872"/>
            <a:ext cx="3749039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3200" rIns="127000" tIns="2032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Качество из коробки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Промпты методолога ВА банка РБ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Запрет РФ / ЕС / IFRS, если их нет во фрагментах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Температура 0.1–0.2 на сервере, не слайдер чата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Шаблон RAG: нет во фрагментах — отказ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Два HITL: НПА и гипотезы — железные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80" y="2404872"/>
            <a:ext cx="3749039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3200" rIns="127000" tIns="2032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Что это даёт банку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Один URL для аудитора, без Vite и Swagger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Свой код только там, где рынка нет: кейс, домен РБ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Можно поставить на машину / контур СВА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Не SaaS с клиентскими файлами во внешней LLM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Масштаб: следующий аудитор открывает тот же чат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962C"/>
                </a:solidFill>
                <a:latin typeface="Calibri"/>
              </a:rPr>
              <a:t>ИТОГ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2233"/>
                </a:solidFill>
                <a:latin typeface="Calibri"/>
              </a:rPr>
              <a:t>Агент, которому можно доверить контур проверки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lIns="127000" rIns="127000" tIns="101600" bIns="10160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17  /  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188720"/>
            <a:ext cx="5486400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4000" rIns="127000" tIns="2286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Что уже можно показать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▸  Один URL, модель «Аудитор» в списке.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▸  НПА и гипотезы нельзя взять в работу без «утверждаю».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▸  саммари / программа / гипотезы / мнение / заключение — файлы.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▸  вопрос … — с цитатой; нет в библиотеке — отказ.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▸  Три локальные модели: чат, embedding, rerank.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▸  Клиентский текст не уходит в интернет.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0776" y="1188720"/>
            <a:ext cx="5486400" cy="3840480"/>
          </a:xfrm>
          <a:prstGeom prst="roundRect">
            <a:avLst>
              <a:gd name="adj" fmla="val 4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4000" rIns="127000" tIns="228600" bIns="10160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Честная граница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D5E0EA"/>
                </a:solidFill>
                <a:latin typeface="Calibri"/>
              </a:rPr>
              <a:t>Закрыт контур «норма → гипотезы → черновик мнения → черновик заключения».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D5E0EA"/>
                </a:solidFill>
                <a:latin typeface="Calibri"/>
              </a:rPr>
              <a:t>Это черновики для правки. Не подписанный акт СВА и не юридически значимое суждение «за аудитора».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D5E0EA"/>
                </a:solidFill>
                <a:latin typeface="Calibri"/>
              </a:rPr>
              <a:t>Дальше по тому же Pipe: факты клиента, тесты, WP.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C4962C"/>
                </a:solidFill>
                <a:latin typeface="Calibri"/>
              </a:rPr>
              <a:t>Автоматизация сильна тем, что знает, где остановиться.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5212080"/>
            <a:ext cx="11338560" cy="960120"/>
          </a:xfrm>
          <a:prstGeom prst="roundRect">
            <a:avLst>
              <a:gd name="adj" fmla="val 6000"/>
            </a:avLst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42233"/>
                </a:solidFill>
                <a:latin typeface="Calibri"/>
              </a:rPr>
              <a:t>Откройте :3000 и начните с одной фразы.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