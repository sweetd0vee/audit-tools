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22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18288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47104"/>
            <a:ext cx="8595360" cy="256032"/>
          </a:xfrm>
          <a:prstGeom prst="rect">
            <a:avLst/>
          </a:prstGeom>
          <a:noFill/>
        </p:spPr>
        <p:txBody>
          <a:bodyPr wrap="square" lIns="18288" rIns="18288" tIns="36576" bIns="36576"/>
          <a:lstStyle/>
          <a:p>
            <a:pPr algn="l"/>
            <a:r>
              <a:rPr sz="1000" b="0">
                <a:solidFill>
                  <a:srgbClr val="9AB0C0"/>
                </a:solidFill>
                <a:latin typeface="Calibri"/>
              </a:rPr>
              <a:t>Аудитор  ·  коробочный ИИ-агент внутренней проверки  ·  конфиденциально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0" y="6547104"/>
            <a:ext cx="1554480" cy="256032"/>
          </a:xfrm>
          <a:prstGeom prst="rect">
            <a:avLst/>
          </a:prstGeom>
          <a:noFill/>
        </p:spPr>
        <p:txBody>
          <a:bodyPr wrap="square" lIns="18288" rIns="18288" tIns="36576" bIns="36576"/>
          <a:lstStyle/>
          <a:p>
            <a:pPr algn="r"/>
            <a:r>
              <a:rPr sz="1000" b="0">
                <a:solidFill>
                  <a:srgbClr val="9AB0C0"/>
                </a:solidFill>
                <a:latin typeface="Calibri"/>
              </a:rPr>
              <a:t>1  / 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72800" cy="320040"/>
          </a:xfrm>
          <a:prstGeom prst="rect">
            <a:avLst/>
          </a:prstGeom>
          <a:noFill/>
        </p:spPr>
        <p:txBody>
          <a:bodyPr wrap="square" lIns="18288" rIns="18288" tIns="36576" bIns="36576"/>
          <a:lstStyle/>
          <a:p>
            <a:pPr algn="l"/>
            <a:r>
              <a:rPr sz="1300" b="1">
                <a:solidFill>
                  <a:srgbClr val="D5E0EA"/>
                </a:solidFill>
                <a:latin typeface="Calibri"/>
              </a:rPr>
              <a:t>ВНУТРЕННИЙ АУДИТ  ·  БАНК РБ  ·  НА МАШИНЕ БАНКА  ·  v0.0.1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17320"/>
            <a:ext cx="10972800" cy="868680"/>
          </a:xfrm>
          <a:prstGeom prst="rect">
            <a:avLst/>
          </a:prstGeom>
          <a:noFill/>
        </p:spPr>
        <p:txBody>
          <a:bodyPr wrap="square" lIns="18288" rIns="18288" tIns="36576" bIns="36576"/>
          <a:lstStyle/>
          <a:p>
            <a:pPr algn="l"/>
            <a:r>
              <a:rPr sz="5400" b="1">
                <a:solidFill>
                  <a:srgbClr val="FFFFFF"/>
                </a:solidFill>
                <a:latin typeface="Calibri"/>
              </a:rPr>
              <a:t>Аудитор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286000"/>
            <a:ext cx="10789920" cy="960120"/>
          </a:xfrm>
          <a:prstGeom prst="rect">
            <a:avLst/>
          </a:prstGeom>
          <a:noFill/>
        </p:spPr>
        <p:txBody>
          <a:bodyPr wrap="square" lIns="18288" rIns="18288" tIns="36576" bIns="36576"/>
          <a:lstStyle/>
          <a:p>
            <a:pPr algn="l"/>
            <a:r>
              <a:rPr sz="2200" b="0">
                <a:solidFill>
                  <a:srgbClr val="D5E0EA"/>
                </a:solidFill>
                <a:latin typeface="Calibri"/>
              </a:rPr>
              <a:t>ИИ-агент внутренней проверки.</a:t>
            </a:r>
            <a:br/>
            <a:r>
              <a:t>Поставили — открыли чат — ведёте проверку.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160520"/>
            <a:ext cx="2651760" cy="1143000"/>
          </a:xfrm>
          <a:prstGeom prst="roundRect">
            <a:avLst>
              <a:gd name="adj" fmla="val 10000"/>
            </a:avLst>
          </a:prstGeom>
          <a:solidFill>
            <a:srgbClr val="1733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224528"/>
            <a:ext cx="2651760" cy="1024128"/>
          </a:xfrm>
          <a:prstGeom prst="rect">
            <a:avLst/>
          </a:prstGeom>
          <a:noFill/>
        </p:spPr>
        <p:txBody>
          <a:bodyPr wrap="square" tIns="36576" bIns="36576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C4962C"/>
                </a:solidFill>
                <a:latin typeface="Calibri"/>
              </a:rPr>
              <a:t>Одна команда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D5E0EA"/>
                </a:solidFill>
                <a:latin typeface="Calibri"/>
              </a:rPr>
              <a:t>compose up → чат на :3000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29000" y="4160520"/>
            <a:ext cx="2651760" cy="1143000"/>
          </a:xfrm>
          <a:prstGeom prst="roundRect">
            <a:avLst>
              <a:gd name="adj" fmla="val 10000"/>
            </a:avLst>
          </a:prstGeom>
          <a:solidFill>
            <a:srgbClr val="1733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9000" y="4224528"/>
            <a:ext cx="2651760" cy="1024128"/>
          </a:xfrm>
          <a:prstGeom prst="rect">
            <a:avLst/>
          </a:prstGeom>
          <a:noFill/>
        </p:spPr>
        <p:txBody>
          <a:bodyPr wrap="square" tIns="36576" bIns="36576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C4962C"/>
                </a:solidFill>
                <a:latin typeface="Calibri"/>
              </a:rPr>
              <a:t>Готовый стек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D5E0EA"/>
                </a:solidFill>
                <a:latin typeface="Calibri"/>
              </a:rPr>
              <a:t>чат, модели, поиск — уже вместе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4160520"/>
            <a:ext cx="2651760" cy="1143000"/>
          </a:xfrm>
          <a:prstGeom prst="roundRect">
            <a:avLst>
              <a:gd name="adj" fmla="val 10000"/>
            </a:avLst>
          </a:prstGeom>
          <a:solidFill>
            <a:srgbClr val="1733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4224528"/>
            <a:ext cx="2651760" cy="1024128"/>
          </a:xfrm>
          <a:prstGeom prst="rect">
            <a:avLst/>
          </a:prstGeom>
          <a:noFill/>
        </p:spPr>
        <p:txBody>
          <a:bodyPr wrap="square" tIns="36576" bIns="36576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C4962C"/>
                </a:solidFill>
                <a:latin typeface="Calibri"/>
              </a:rPr>
              <a:t>Вы решаете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D5E0EA"/>
                </a:solidFill>
                <a:latin typeface="Calibri"/>
              </a:rPr>
              <a:t>модель предлагает, аудитор утверждает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06839" y="4160520"/>
            <a:ext cx="2651760" cy="1143000"/>
          </a:xfrm>
          <a:prstGeom prst="roundRect">
            <a:avLst>
              <a:gd name="adj" fmla="val 10000"/>
            </a:avLst>
          </a:prstGeom>
          <a:solidFill>
            <a:srgbClr val="1733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06839" y="4224528"/>
            <a:ext cx="2651760" cy="1024128"/>
          </a:xfrm>
          <a:prstGeom prst="rect">
            <a:avLst/>
          </a:prstGeom>
          <a:noFill/>
        </p:spPr>
        <p:txBody>
          <a:bodyPr wrap="square" tIns="36576" bIns="36576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C4962C"/>
                </a:solidFill>
                <a:latin typeface="Calibri"/>
              </a:rPr>
              <a:t>Не в облако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D5E0EA"/>
                </a:solidFill>
                <a:latin typeface="Calibri"/>
              </a:rPr>
              <a:t>данные остаются в контуре банка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22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18288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47104"/>
            <a:ext cx="8595360" cy="256032"/>
          </a:xfrm>
          <a:prstGeom prst="rect">
            <a:avLst/>
          </a:prstGeom>
          <a:noFill/>
        </p:spPr>
        <p:txBody>
          <a:bodyPr wrap="square" lIns="18288" rIns="18288" tIns="36576" bIns="36576"/>
          <a:lstStyle/>
          <a:p>
            <a:pPr algn="l"/>
            <a:r>
              <a:rPr sz="1000" b="0">
                <a:solidFill>
                  <a:srgbClr val="9AB0C0"/>
                </a:solidFill>
                <a:latin typeface="Calibri"/>
              </a:rPr>
              <a:t>Аудитор  ·  коробочный ИИ-агент внутренней проверки  ·  конфиденциально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0" y="6547104"/>
            <a:ext cx="1554480" cy="256032"/>
          </a:xfrm>
          <a:prstGeom prst="rect">
            <a:avLst/>
          </a:prstGeom>
          <a:noFill/>
        </p:spPr>
        <p:txBody>
          <a:bodyPr wrap="square" lIns="18288" rIns="18288" tIns="36576" bIns="36576"/>
          <a:lstStyle/>
          <a:p>
            <a:pPr algn="r"/>
            <a:r>
              <a:rPr sz="1000" b="0">
                <a:solidFill>
                  <a:srgbClr val="9AB0C0"/>
                </a:solidFill>
                <a:latin typeface="Calibri"/>
              </a:rPr>
              <a:t>2  /  12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20040"/>
            <a:ext cx="164592" cy="164592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256032"/>
            <a:ext cx="10515600" cy="292608"/>
          </a:xfrm>
          <a:prstGeom prst="rect">
            <a:avLst/>
          </a:prstGeom>
          <a:noFill/>
        </p:spPr>
        <p:txBody>
          <a:bodyPr wrap="square" lIns="18288" rIns="18288" tIns="36576" bIns="36576"/>
          <a:lstStyle/>
          <a:p>
            <a:pPr algn="l"/>
            <a:r>
              <a:rPr sz="1100" b="1">
                <a:solidFill>
                  <a:srgbClr val="C4962C"/>
                </a:solidFill>
                <a:latin typeface="Calibri"/>
              </a:rPr>
              <a:t>СОДЕРЖАНИЕ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75488"/>
            <a:ext cx="11155680" cy="502920"/>
          </a:xfrm>
          <a:prstGeom prst="rect">
            <a:avLst/>
          </a:prstGeom>
          <a:noFill/>
        </p:spPr>
        <p:txBody>
          <a:bodyPr wrap="square" lIns="18288" rIns="18288" tIns="36576" bIns="36576"/>
          <a:lstStyle/>
          <a:p>
            <a:pPr algn="l"/>
            <a:r>
              <a:rPr sz="2600" b="1">
                <a:solidFill>
                  <a:srgbClr val="0B1F33"/>
                </a:solidFill>
                <a:latin typeface="Calibri"/>
              </a:rPr>
              <a:t>О чём эта презентация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170432"/>
            <a:ext cx="1115568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1335024"/>
            <a:ext cx="822960" cy="512064"/>
          </a:xfrm>
          <a:prstGeom prst="rect">
            <a:avLst/>
          </a:prstGeom>
          <a:noFill/>
        </p:spPr>
        <p:txBody>
          <a:bodyPr wrap="square" lIns="18288" rIns="18288" tIns="36576" bIns="36576"/>
          <a:lstStyle/>
          <a:p>
            <a:pPr algn="l"/>
            <a:r>
              <a:rPr sz="2200" b="1">
                <a:solidFill>
                  <a:srgbClr val="C4962C"/>
                </a:solidFill>
                <a:latin typeface="Calibri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1298448"/>
            <a:ext cx="9601200" cy="603504"/>
          </a:xfrm>
          <a:prstGeom prst="rect">
            <a:avLst/>
          </a:prstGeom>
          <a:noFill/>
        </p:spPr>
        <p:txBody>
          <a:bodyPr wrap="square" tIns="36576" bIns="36576"/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0B1F33"/>
                </a:solidFill>
                <a:latin typeface="Calibri"/>
              </a:rPr>
              <a:t>Зачем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3D4F61"/>
                </a:solidFill>
                <a:latin typeface="Calibri"/>
              </a:rPr>
              <a:t>Что болит на каждой проверке и чего модель не заменяет.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103120"/>
            <a:ext cx="1115568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267712"/>
            <a:ext cx="822960" cy="512064"/>
          </a:xfrm>
          <a:prstGeom prst="rect">
            <a:avLst/>
          </a:prstGeom>
          <a:noFill/>
        </p:spPr>
        <p:txBody>
          <a:bodyPr wrap="square" lIns="18288" rIns="18288" tIns="36576" bIns="36576"/>
          <a:lstStyle/>
          <a:p>
            <a:pPr algn="l"/>
            <a:r>
              <a:rPr sz="2200" b="1">
                <a:solidFill>
                  <a:srgbClr val="C4962C"/>
                </a:solidFill>
                <a:latin typeface="Calibri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2231136"/>
            <a:ext cx="9601200" cy="603504"/>
          </a:xfrm>
          <a:prstGeom prst="rect">
            <a:avLst/>
          </a:prstGeom>
          <a:noFill/>
        </p:spPr>
        <p:txBody>
          <a:bodyPr wrap="square" tIns="36576" bIns="36576"/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0B1F33"/>
                </a:solidFill>
                <a:latin typeface="Calibri"/>
              </a:rPr>
              <a:t>Как работает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3D4F61"/>
                </a:solidFill>
                <a:latin typeface="Calibri"/>
              </a:rPr>
              <a:t>От одной фразы в чате до черновика заключения в Word.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035808"/>
            <a:ext cx="1115568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3200400"/>
            <a:ext cx="822960" cy="512064"/>
          </a:xfrm>
          <a:prstGeom prst="rect">
            <a:avLst/>
          </a:prstGeom>
          <a:noFill/>
        </p:spPr>
        <p:txBody>
          <a:bodyPr wrap="square" lIns="18288" rIns="18288" tIns="36576" bIns="36576"/>
          <a:lstStyle/>
          <a:p>
            <a:pPr algn="l"/>
            <a:r>
              <a:rPr sz="2200" b="1">
                <a:solidFill>
                  <a:srgbClr val="C4962C"/>
                </a:solidFill>
                <a:latin typeface="Calibr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3163824"/>
            <a:ext cx="9601200" cy="603504"/>
          </a:xfrm>
          <a:prstGeom prst="rect">
            <a:avLst/>
          </a:prstGeom>
          <a:noFill/>
        </p:spPr>
        <p:txBody>
          <a:bodyPr wrap="square" tIns="36576" bIns="36576"/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0B1F33"/>
                </a:solidFill>
                <a:latin typeface="Calibri"/>
              </a:rPr>
              <a:t>Как устроено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3D4F61"/>
                </a:solidFill>
                <a:latin typeface="Calibri"/>
              </a:rPr>
              <a:t>Три локальные модели, цитата из акта, два стоп-крана.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968496"/>
            <a:ext cx="1115568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4133087"/>
            <a:ext cx="822960" cy="512064"/>
          </a:xfrm>
          <a:prstGeom prst="rect">
            <a:avLst/>
          </a:prstGeom>
          <a:noFill/>
        </p:spPr>
        <p:txBody>
          <a:bodyPr wrap="square" lIns="18288" rIns="18288" tIns="36576" bIns="36576"/>
          <a:lstStyle/>
          <a:p>
            <a:pPr algn="l"/>
            <a:r>
              <a:rPr sz="2200" b="1">
                <a:solidFill>
                  <a:srgbClr val="C4962C"/>
                </a:solidFill>
                <a:latin typeface="Calibri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45920" y="4096511"/>
            <a:ext cx="9601200" cy="603504"/>
          </a:xfrm>
          <a:prstGeom prst="rect">
            <a:avLst/>
          </a:prstGeom>
          <a:noFill/>
        </p:spPr>
        <p:txBody>
          <a:bodyPr wrap="square" tIns="36576" bIns="36576"/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0B1F33"/>
                </a:solidFill>
                <a:latin typeface="Calibri"/>
              </a:rPr>
              <a:t>Контур банка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3D4F61"/>
                </a:solidFill>
                <a:latin typeface="Calibri"/>
              </a:rPr>
              <a:t>На машине банка, только официальные сайты РБ, без облака.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901183"/>
            <a:ext cx="1115568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5065775"/>
            <a:ext cx="822960" cy="512064"/>
          </a:xfrm>
          <a:prstGeom prst="rect">
            <a:avLst/>
          </a:prstGeom>
          <a:noFill/>
        </p:spPr>
        <p:txBody>
          <a:bodyPr wrap="square" lIns="18288" rIns="18288" tIns="36576" bIns="36576"/>
          <a:lstStyle/>
          <a:p>
            <a:pPr algn="l"/>
            <a:r>
              <a:rPr sz="2200" b="1">
                <a:solidFill>
                  <a:srgbClr val="C4962C"/>
                </a:solidFill>
                <a:latin typeface="Calibri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45920" y="5029199"/>
            <a:ext cx="9601200" cy="603504"/>
          </a:xfrm>
          <a:prstGeom prst="rect">
            <a:avLst/>
          </a:prstGeom>
          <a:noFill/>
        </p:spPr>
        <p:txBody>
          <a:bodyPr wrap="square" tIns="36576" bIns="36576"/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0B1F33"/>
                </a:solidFill>
                <a:latin typeface="Calibri"/>
              </a:rPr>
              <a:t>Итог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3D4F61"/>
                </a:solidFill>
                <a:latin typeface="Calibri"/>
              </a:rPr>
              <a:t>Что можно показать сегодня — и где человек обязателен.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22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18288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47104"/>
            <a:ext cx="8595360" cy="256032"/>
          </a:xfrm>
          <a:prstGeom prst="rect">
            <a:avLst/>
          </a:prstGeom>
          <a:noFill/>
        </p:spPr>
        <p:txBody>
          <a:bodyPr wrap="square" lIns="18288" rIns="18288" tIns="36576" bIns="36576"/>
          <a:lstStyle/>
          <a:p>
            <a:pPr algn="l"/>
            <a:r>
              <a:rPr sz="1000" b="0">
                <a:solidFill>
                  <a:srgbClr val="9AB0C0"/>
                </a:solidFill>
                <a:latin typeface="Calibri"/>
              </a:rPr>
              <a:t>Аудитор  ·  коробочный ИИ-агент внутренней проверки  ·  конфиденциально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0" y="6547104"/>
            <a:ext cx="1554480" cy="256032"/>
          </a:xfrm>
          <a:prstGeom prst="rect">
            <a:avLst/>
          </a:prstGeom>
          <a:noFill/>
        </p:spPr>
        <p:txBody>
          <a:bodyPr wrap="square" lIns="18288" rIns="18288" tIns="36576" bIns="36576"/>
          <a:lstStyle/>
          <a:p>
            <a:pPr algn="r"/>
            <a:r>
              <a:rPr sz="1000" b="0">
                <a:solidFill>
                  <a:srgbClr val="9AB0C0"/>
                </a:solidFill>
                <a:latin typeface="Calibri"/>
              </a:rPr>
              <a:t>3  /  12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20040"/>
            <a:ext cx="164592" cy="164592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256032"/>
            <a:ext cx="10515600" cy="292608"/>
          </a:xfrm>
          <a:prstGeom prst="rect">
            <a:avLst/>
          </a:prstGeom>
          <a:noFill/>
        </p:spPr>
        <p:txBody>
          <a:bodyPr wrap="square" lIns="18288" rIns="18288" tIns="36576" bIns="36576"/>
          <a:lstStyle/>
          <a:p>
            <a:pPr algn="l"/>
            <a:r>
              <a:rPr sz="1100" b="1">
                <a:solidFill>
                  <a:srgbClr val="C4962C"/>
                </a:solidFill>
                <a:latin typeface="Calibri"/>
              </a:rPr>
              <a:t>ЗАЧЕМ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75488"/>
            <a:ext cx="11155680" cy="502920"/>
          </a:xfrm>
          <a:prstGeom prst="rect">
            <a:avLst/>
          </a:prstGeom>
          <a:noFill/>
        </p:spPr>
        <p:txBody>
          <a:bodyPr wrap="square" lIns="18288" rIns="18288" tIns="36576" bIns="36576"/>
          <a:lstStyle/>
          <a:p>
            <a:pPr algn="l"/>
            <a:r>
              <a:rPr sz="2600" b="1">
                <a:solidFill>
                  <a:srgbClr val="0B1F33"/>
                </a:solidFill>
                <a:latin typeface="Calibri"/>
              </a:rPr>
              <a:t>Каждую проверку аудитор собирает заново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1170432"/>
            <a:ext cx="5669280" cy="11155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1170432"/>
            <a:ext cx="91440" cy="1115568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1298448"/>
            <a:ext cx="5212080" cy="896112"/>
          </a:xfrm>
          <a:prstGeom prst="rect">
            <a:avLst/>
          </a:prstGeom>
          <a:noFill/>
        </p:spPr>
        <p:txBody>
          <a:bodyPr wrap="square" tIns="36576" bIns="36576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B1F33"/>
                </a:solidFill>
                <a:latin typeface="Calibri"/>
              </a:rPr>
              <a:t>01   Вспомнить законы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ГК, НК, инструкции НБРБ, акты Минфина и МНС — по теме этой недели.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2377440"/>
            <a:ext cx="5669280" cy="11155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2377440"/>
            <a:ext cx="91440" cy="1115568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505456"/>
            <a:ext cx="5212080" cy="896112"/>
          </a:xfrm>
          <a:prstGeom prst="rect">
            <a:avLst/>
          </a:prstGeom>
          <a:noFill/>
        </p:spPr>
        <p:txBody>
          <a:bodyPr wrap="square" tIns="36576" bIns="36576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B1F33"/>
                </a:solidFill>
                <a:latin typeface="Calibri"/>
              </a:rPr>
              <a:t>02   Найти редакцию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Актуальный текст на pravo.by / nbrb.by, не методичка с форума.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1480" y="3584448"/>
            <a:ext cx="5669280" cy="11155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1480" y="3584448"/>
            <a:ext cx="91440" cy="1115568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712463"/>
            <a:ext cx="5212080" cy="896112"/>
          </a:xfrm>
          <a:prstGeom prst="rect">
            <a:avLst/>
          </a:prstGeom>
          <a:noFill/>
        </p:spPr>
        <p:txBody>
          <a:bodyPr wrap="square" tIns="36576" bIns="36576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B1F33"/>
                </a:solidFill>
                <a:latin typeface="Calibri"/>
              </a:rPr>
              <a:t>03   Вычитать кодекс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Десятки страниц, чтобы вытащить 5–7 норм в рабочую бумагу.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4791456"/>
            <a:ext cx="5669280" cy="11155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1480" y="4791456"/>
            <a:ext cx="91440" cy="1115568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4919472"/>
            <a:ext cx="5212080" cy="896112"/>
          </a:xfrm>
          <a:prstGeom prst="rect">
            <a:avLst/>
          </a:prstGeom>
          <a:noFill/>
        </p:spPr>
        <p:txBody>
          <a:bodyPr wrap="square" tIns="36576" bIns="36576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B1F33"/>
                </a:solidFill>
                <a:latin typeface="Calibri"/>
              </a:rPr>
              <a:t>04   Собрать бумаги СВА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Программа, гипотезы, мнение, заключение — каждый раз с нуля.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60" y="1170432"/>
            <a:ext cx="5440680" cy="4846320"/>
          </a:xfrm>
          <a:prstGeom prst="roundRect">
            <a:avLst>
              <a:gd name="adj" fmla="val 8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1371600"/>
            <a:ext cx="5029200" cy="320040"/>
          </a:xfrm>
          <a:prstGeom prst="rect">
            <a:avLst/>
          </a:prstGeom>
          <a:noFill/>
        </p:spPr>
        <p:txBody>
          <a:bodyPr wrap="square" lIns="36576" rIns="36576" tIns="36576" bIns="36576"/>
          <a:lstStyle/>
          <a:p>
            <a:pPr algn="l"/>
            <a:r>
              <a:rPr sz="1200" b="1">
                <a:solidFill>
                  <a:srgbClr val="C4962C"/>
                </a:solidFill>
                <a:latin typeface="Calibri"/>
              </a:rPr>
              <a:t>РАЗРЫВ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60" y="1783080"/>
            <a:ext cx="5029200" cy="3977639"/>
          </a:xfrm>
          <a:prstGeom prst="rect">
            <a:avLst/>
          </a:prstGeom>
          <a:noFill/>
        </p:spPr>
        <p:txBody>
          <a:bodyPr wrap="square" tIns="36576" bIns="36576"/>
          <a:lstStyle/>
          <a:p>
            <a:pPr algn="l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Чат без документов выдумывает статьи.</a:t>
            </a:r>
          </a:p>
          <a:p>
            <a:pPr algn="l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Документы без чата читаются слишком долго.</a:t>
            </a:r>
          </a:p>
          <a:p>
            <a:pPr algn="l">
              <a:spcAft>
                <a:spcPts val="1000"/>
              </a:spcAft>
            </a:pP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D5E0EA"/>
                </a:solidFill>
                <a:latin typeface="Calibri"/>
              </a:rPr>
              <a:t>Нужны оба: модель помогает найти, закон доказывает, аудитор подтверждает.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22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18288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47104"/>
            <a:ext cx="8595360" cy="256032"/>
          </a:xfrm>
          <a:prstGeom prst="rect">
            <a:avLst/>
          </a:prstGeom>
          <a:noFill/>
        </p:spPr>
        <p:txBody>
          <a:bodyPr wrap="square" lIns="18288" rIns="18288" tIns="36576" bIns="36576"/>
          <a:lstStyle/>
          <a:p>
            <a:pPr algn="l"/>
            <a:r>
              <a:rPr sz="1000" b="0">
                <a:solidFill>
                  <a:srgbClr val="9AB0C0"/>
                </a:solidFill>
                <a:latin typeface="Calibri"/>
              </a:rPr>
              <a:t>Аудитор  ·  коробочный ИИ-агент внутренней проверки  ·  конфиденциально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0" y="6547104"/>
            <a:ext cx="1554480" cy="256032"/>
          </a:xfrm>
          <a:prstGeom prst="rect">
            <a:avLst/>
          </a:prstGeom>
          <a:noFill/>
        </p:spPr>
        <p:txBody>
          <a:bodyPr wrap="square" lIns="18288" rIns="18288" tIns="36576" bIns="36576"/>
          <a:lstStyle/>
          <a:p>
            <a:pPr algn="r"/>
            <a:r>
              <a:rPr sz="1000" b="0">
                <a:solidFill>
                  <a:srgbClr val="9AB0C0"/>
                </a:solidFill>
                <a:latin typeface="Calibri"/>
              </a:rPr>
              <a:t>4  /  12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20040"/>
            <a:ext cx="164592" cy="164592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256032"/>
            <a:ext cx="10515600" cy="292608"/>
          </a:xfrm>
          <a:prstGeom prst="rect">
            <a:avLst/>
          </a:prstGeom>
          <a:noFill/>
        </p:spPr>
        <p:txBody>
          <a:bodyPr wrap="square" lIns="18288" rIns="18288" tIns="36576" bIns="36576"/>
          <a:lstStyle/>
          <a:p>
            <a:pPr algn="l"/>
            <a:r>
              <a:rPr sz="1100" b="1">
                <a:solidFill>
                  <a:srgbClr val="C4962C"/>
                </a:solidFill>
                <a:latin typeface="Calibri"/>
              </a:rPr>
              <a:t>ПРОДУКТ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75488"/>
            <a:ext cx="11155680" cy="502920"/>
          </a:xfrm>
          <a:prstGeom prst="rect">
            <a:avLst/>
          </a:prstGeom>
          <a:noFill/>
        </p:spPr>
        <p:txBody>
          <a:bodyPr wrap="square" lIns="18288" rIns="18288" tIns="36576" bIns="36576"/>
          <a:lstStyle/>
          <a:p>
            <a:pPr algn="l"/>
            <a:r>
              <a:rPr sz="2600" b="1">
                <a:solidFill>
                  <a:srgbClr val="0B1F33"/>
                </a:solidFill>
                <a:latin typeface="Calibri"/>
              </a:rPr>
              <a:t>Коробка, а не «ещё один чат»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987552"/>
            <a:ext cx="11155680" cy="384048"/>
          </a:xfrm>
          <a:prstGeom prst="rect">
            <a:avLst/>
          </a:prstGeom>
          <a:noFill/>
        </p:spPr>
        <p:txBody>
          <a:bodyPr wrap="square" lIns="18288" rIns="18288" tIns="36576" bIns="36576"/>
          <a:lstStyle/>
          <a:p>
            <a:pPr algn="l"/>
            <a:r>
              <a:rPr sz="1400" b="0">
                <a:solidFill>
                  <a:srgbClr val="3D4F61"/>
                </a:solidFill>
                <a:latin typeface="Calibri"/>
              </a:rPr>
              <a:t>Берём готовый чат и модели. Своё — только то, чего нет на рынке: проверка банка РБ.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1481328"/>
            <a:ext cx="3749039" cy="3063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6072" y="1609344"/>
            <a:ext cx="3419856" cy="36576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l"/>
            <a:r>
              <a:rPr sz="1600" b="1">
                <a:solidFill>
                  <a:srgbClr val="C4962C"/>
                </a:solidFill>
                <a:latin typeface="Calibri"/>
              </a:rPr>
              <a:t>Берём готовое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" y="2029968"/>
            <a:ext cx="3419856" cy="228600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l"/>
            <a:r>
              <a:rPr sz="1400" b="0">
                <a:solidFill>
                  <a:srgbClr val="142233"/>
                </a:solidFill>
                <a:latin typeface="Calibri"/>
              </a:rPr>
              <a:t>Чат с входом и файлами.</a:t>
            </a:r>
            <a:br/>
            <a:r>
              <a:t>Локальные модели.</a:t>
            </a:r>
            <a:br/>
            <a:r>
              <a:t>Поиск по сайтам РБ.</a:t>
            </a:r>
            <a:br/>
            <a:r>
              <a:t>Word и Excel по шаблону.</a:t>
            </a:r>
            <a:br/>
            <a:r>
              <a:t>Запуск одной командой.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97680" y="1481328"/>
            <a:ext cx="3749039" cy="3063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62272" y="1609344"/>
            <a:ext cx="3419856" cy="36576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l"/>
            <a:r>
              <a:rPr sz="1600" b="1">
                <a:solidFill>
                  <a:srgbClr val="C4962C"/>
                </a:solidFill>
                <a:latin typeface="Calibri"/>
              </a:rPr>
              <a:t>Пишем своё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2029968"/>
            <a:ext cx="3419856" cy="228600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l"/>
            <a:r>
              <a:rPr sz="1400" b="0">
                <a:solidFill>
                  <a:srgbClr val="142233"/>
                </a:solidFill>
                <a:latin typeface="Calibri"/>
              </a:rPr>
              <a:t>Проверка как дело на диске.</a:t>
            </a:r>
            <a:br/>
            <a:r>
              <a:t>Скачивание законов РБ.</a:t>
            </a:r>
            <a:br/>
            <a:r>
              <a:t>Нарезка текста по статьям.</a:t>
            </a:r>
            <a:br/>
            <a:r>
              <a:t>Промпты методолога ВА.</a:t>
            </a:r>
            <a:br/>
            <a:r>
              <a:t>Сборка черновиков документов.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83879" y="1481328"/>
            <a:ext cx="3749039" cy="3063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48471" y="1609344"/>
            <a:ext cx="3419856" cy="36576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l"/>
            <a:r>
              <a:rPr sz="1600" b="1">
                <a:solidFill>
                  <a:srgbClr val="C4962C"/>
                </a:solidFill>
                <a:latin typeface="Calibri"/>
              </a:rPr>
              <a:t>Не пишем вовсе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48471" y="2029968"/>
            <a:ext cx="3419856" cy="228600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l"/>
            <a:r>
              <a:rPr sz="1400" b="0">
                <a:solidFill>
                  <a:srgbClr val="142233"/>
                </a:solidFill>
                <a:latin typeface="Calibri"/>
              </a:rPr>
              <a:t>Свой чат и свой сайт.</a:t>
            </a:r>
            <a:br/>
            <a:r>
              <a:t>Свою нейросеть.</a:t>
            </a:r>
            <a:br/>
            <a:r>
              <a:t>Свой поисковик.</a:t>
            </a:r>
            <a:br/>
            <a:r>
              <a:t>Редактор рабочих бумаг.</a:t>
            </a:r>
            <a:br/>
            <a:r>
              <a:t>Подпись «за аудитора».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4681728"/>
            <a:ext cx="11338560" cy="1554480"/>
          </a:xfrm>
          <a:prstGeom prst="roundRect">
            <a:avLst>
              <a:gd name="adj" fmla="val 8000"/>
            </a:avLst>
          </a:prstGeom>
          <a:solidFill>
            <a:srgbClr val="F6F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4773168"/>
            <a:ext cx="10972800" cy="1371600"/>
          </a:xfrm>
          <a:prstGeom prst="rect">
            <a:avLst/>
          </a:prstGeom>
          <a:noFill/>
        </p:spPr>
        <p:txBody>
          <a:bodyPr wrap="square" tIns="36576" bIns="36576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B1F33"/>
                </a:solidFill>
                <a:latin typeface="Calibri"/>
              </a:rPr>
              <a:t>«Модель ускоряет поиск нормы и черновик. Решение и подпись — за аудитором. Цитату сверяют с файлом в деле.»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Ускоряет сбор законов и бумаг. Не ставит вывод «нарушение». Не подписывает заключение.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22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18288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47104"/>
            <a:ext cx="8595360" cy="256032"/>
          </a:xfrm>
          <a:prstGeom prst="rect">
            <a:avLst/>
          </a:prstGeom>
          <a:noFill/>
        </p:spPr>
        <p:txBody>
          <a:bodyPr wrap="square" lIns="18288" rIns="18288" tIns="36576" bIns="36576"/>
          <a:lstStyle/>
          <a:p>
            <a:pPr algn="l"/>
            <a:r>
              <a:rPr sz="1000" b="0">
                <a:solidFill>
                  <a:srgbClr val="9AB0C0"/>
                </a:solidFill>
                <a:latin typeface="Calibri"/>
              </a:rPr>
              <a:t>Аудитор  ·  коробочный ИИ-агент внутренней проверки  ·  конфиденциально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0" y="6547104"/>
            <a:ext cx="1554480" cy="256032"/>
          </a:xfrm>
          <a:prstGeom prst="rect">
            <a:avLst/>
          </a:prstGeom>
          <a:noFill/>
        </p:spPr>
        <p:txBody>
          <a:bodyPr wrap="square" lIns="18288" rIns="18288" tIns="36576" bIns="36576"/>
          <a:lstStyle/>
          <a:p>
            <a:pPr algn="r"/>
            <a:r>
              <a:rPr sz="1000" b="0">
                <a:solidFill>
                  <a:srgbClr val="9AB0C0"/>
                </a:solidFill>
                <a:latin typeface="Calibri"/>
              </a:rPr>
              <a:t>5  /  12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20040"/>
            <a:ext cx="164592" cy="164592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256032"/>
            <a:ext cx="10515600" cy="292608"/>
          </a:xfrm>
          <a:prstGeom prst="rect">
            <a:avLst/>
          </a:prstGeom>
          <a:noFill/>
        </p:spPr>
        <p:txBody>
          <a:bodyPr wrap="square" lIns="18288" rIns="18288" tIns="36576" bIns="36576"/>
          <a:lstStyle/>
          <a:p>
            <a:pPr algn="l"/>
            <a:r>
              <a:rPr sz="1100" b="1">
                <a:solidFill>
                  <a:srgbClr val="C4962C"/>
                </a:solidFill>
                <a:latin typeface="Calibri"/>
              </a:rPr>
              <a:t>КАК РАБОТАЕТ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75488"/>
            <a:ext cx="11155680" cy="502920"/>
          </a:xfrm>
          <a:prstGeom prst="rect">
            <a:avLst/>
          </a:prstGeom>
          <a:noFill/>
        </p:spPr>
        <p:txBody>
          <a:bodyPr wrap="square" lIns="18288" rIns="18288" tIns="36576" bIns="36576"/>
          <a:lstStyle/>
          <a:p>
            <a:pPr algn="l"/>
            <a:r>
              <a:rPr sz="2600" b="1">
                <a:solidFill>
                  <a:srgbClr val="0B1F33"/>
                </a:solidFill>
                <a:latin typeface="Calibri"/>
              </a:rPr>
              <a:t>Один чат — одна проверка до черновика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987552"/>
            <a:ext cx="11155680" cy="384048"/>
          </a:xfrm>
          <a:prstGeom prst="rect">
            <a:avLst/>
          </a:prstGeom>
          <a:noFill/>
        </p:spPr>
        <p:txBody>
          <a:bodyPr wrap="square" lIns="18288" rIns="18288" tIns="36576" bIns="36576"/>
          <a:lstStyle/>
          <a:p>
            <a:pPr algn="l"/>
            <a:r>
              <a:rPr sz="1400" b="0">
                <a:solidFill>
                  <a:srgbClr val="3D4F61"/>
                </a:solidFill>
                <a:latin typeface="Calibri"/>
              </a:rPr>
              <a:t>Тема: аренда коммерческой недвижимости — валюта, НДС, договоры с нерезидентами.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1444752"/>
            <a:ext cx="5532120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1554480"/>
            <a:ext cx="5166360" cy="32004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l"/>
            <a:r>
              <a:rPr sz="1300" b="1">
                <a:solidFill>
                  <a:srgbClr val="C4962C"/>
                </a:solidFill>
                <a:latin typeface="Calibri"/>
              </a:rPr>
              <a:t>РАНЬШЕ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901952"/>
            <a:ext cx="5166360" cy="173736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l"/>
            <a:r>
              <a:rPr sz="1400" b="0">
                <a:solidFill>
                  <a:srgbClr val="142233"/>
                </a:solidFill>
                <a:latin typeface="Calibri"/>
              </a:rPr>
              <a:t>Вспоминаю акты по памяти и старым бумагам.</a:t>
            </a:r>
            <a:br/>
            <a:r>
              <a:t>Ищу редакции вкладками на pravo.by.</a:t>
            </a:r>
            <a:br/>
            <a:r>
              <a:t>Читаю ГК и НК «на всякий случай».</a:t>
            </a:r>
            <a:br/>
            <a:r>
              <a:t>Программу, мнение и заключение пишу с нуля.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444752"/>
            <a:ext cx="5532120" cy="2331720"/>
          </a:xfrm>
          <a:prstGeom prst="roundRect">
            <a:avLst>
              <a:gd name="adj" fmla="val 8000"/>
            </a:avLst>
          </a:prstGeom>
          <a:solidFill>
            <a:srgbClr val="F6F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1554480"/>
            <a:ext cx="5166360" cy="32004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l"/>
            <a:r>
              <a:rPr sz="1300" b="1">
                <a:solidFill>
                  <a:srgbClr val="C4962C"/>
                </a:solidFill>
                <a:latin typeface="Calibri"/>
              </a:rPr>
              <a:t>ТЕПЕРЬ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1901952"/>
            <a:ext cx="5166360" cy="173736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l"/>
            <a:r>
              <a:rPr sz="1400" b="0">
                <a:solidFill>
                  <a:srgbClr val="142233"/>
                </a:solidFill>
                <a:latin typeface="Calibri"/>
              </a:rPr>
              <a:t>Одной фразой описываю проверку в чате.</a:t>
            </a:r>
            <a:br/>
            <a:r>
              <a:t>Утверждаю список законов — без этого ничего не качается.</a:t>
            </a:r>
            <a:br/>
            <a:r>
              <a:t>Читаю Word-обзор вместо кодекса целиком.</a:t>
            </a:r>
            <a:br/>
            <a:r>
              <a:t>Гипотезы в Excel → черновик мнения и заключения.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3931920"/>
            <a:ext cx="1371600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" y="4041648"/>
            <a:ext cx="1371600" cy="36576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ctr"/>
            <a:r>
              <a:rPr sz="1800" b="1">
                <a:solidFill>
                  <a:srgbClr val="C4962C"/>
                </a:solidFill>
                <a:latin typeface="Calibri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4434840"/>
            <a:ext cx="1371600" cy="64008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ctr"/>
            <a:r>
              <a:rPr sz="1300" b="1">
                <a:solidFill>
                  <a:srgbClr val="0B1F33"/>
                </a:solidFill>
                <a:latin typeface="Calibri"/>
              </a:rPr>
              <a:t>Описать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6344" y="5074920"/>
            <a:ext cx="1261872" cy="96012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ctr"/>
            <a:r>
              <a:rPr sz="1100" b="0">
                <a:solidFill>
                  <a:srgbClr val="3D4F61"/>
                </a:solidFill>
                <a:latin typeface="Calibri"/>
              </a:rPr>
              <a:t>Проверка аренды…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856232" y="3931920"/>
            <a:ext cx="1371600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856232" y="4041648"/>
            <a:ext cx="1371600" cy="36576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ctr"/>
            <a:r>
              <a:rPr sz="1800" b="1">
                <a:solidFill>
                  <a:srgbClr val="C4962C"/>
                </a:solidFill>
                <a:latin typeface="Calibri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56232" y="4434840"/>
            <a:ext cx="1371600" cy="64008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ctr"/>
            <a:r>
              <a:rPr sz="1300" b="1">
                <a:solidFill>
                  <a:srgbClr val="0B1F33"/>
                </a:solidFill>
                <a:latin typeface="Calibri"/>
              </a:rPr>
              <a:t>Утвердить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11096" y="5074920"/>
            <a:ext cx="1261872" cy="96012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ctr"/>
            <a:r>
              <a:rPr sz="1100" b="0">
                <a:solidFill>
                  <a:srgbClr val="3D4F61"/>
                </a:solidFill>
                <a:latin typeface="Calibri"/>
              </a:rPr>
              <a:t>утверждаю 1, 2, 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300984" y="3931920"/>
            <a:ext cx="1371600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300984" y="4041648"/>
            <a:ext cx="1371600" cy="36576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ctr"/>
            <a:r>
              <a:rPr sz="1800" b="1">
                <a:solidFill>
                  <a:srgbClr val="C4962C"/>
                </a:solidFill>
                <a:latin typeface="Calibri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00984" y="4434840"/>
            <a:ext cx="1371600" cy="64008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ctr"/>
            <a:r>
              <a:rPr sz="1300" b="1">
                <a:solidFill>
                  <a:srgbClr val="0B1F33"/>
                </a:solidFill>
                <a:latin typeface="Calibri"/>
              </a:rPr>
              <a:t>Читать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55848" y="5074920"/>
            <a:ext cx="1261872" cy="96012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ctr"/>
            <a:r>
              <a:rPr sz="1100" b="0">
                <a:solidFill>
                  <a:srgbClr val="3D4F61"/>
                </a:solidFill>
                <a:latin typeface="Calibri"/>
              </a:rPr>
              <a:t>саммари / программа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45736" y="3931920"/>
            <a:ext cx="1371600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45736" y="4041648"/>
            <a:ext cx="1371600" cy="36576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ctr"/>
            <a:r>
              <a:rPr sz="1800" b="1">
                <a:solidFill>
                  <a:srgbClr val="C4962C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45736" y="4434840"/>
            <a:ext cx="1371600" cy="64008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ctr"/>
            <a:r>
              <a:rPr sz="1300" b="1">
                <a:solidFill>
                  <a:srgbClr val="0B1F33"/>
                </a:solidFill>
                <a:latin typeface="Calibri"/>
              </a:rPr>
              <a:t>Планировать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00600" y="5074920"/>
            <a:ext cx="1261872" cy="96012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ctr"/>
            <a:r>
              <a:rPr sz="1100" b="0">
                <a:solidFill>
                  <a:srgbClr val="3D4F61"/>
                </a:solidFill>
                <a:latin typeface="Calibri"/>
              </a:rPr>
              <a:t>гипотезы → Excel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90488" y="3931920"/>
            <a:ext cx="1371600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90488" y="4041648"/>
            <a:ext cx="1371600" cy="36576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ctr"/>
            <a:r>
              <a:rPr sz="1800" b="1">
                <a:solidFill>
                  <a:srgbClr val="C4962C"/>
                </a:solidFill>
                <a:latin typeface="Calibri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90488" y="4434840"/>
            <a:ext cx="1371600" cy="64008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ctr"/>
            <a:r>
              <a:rPr sz="1300" b="1">
                <a:solidFill>
                  <a:srgbClr val="0B1F33"/>
                </a:solidFill>
                <a:latin typeface="Calibri"/>
              </a:rPr>
              <a:t>Подтвердить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5352" y="5074920"/>
            <a:ext cx="1261872" cy="96012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ctr"/>
            <a:r>
              <a:rPr sz="1100" b="0">
                <a:solidFill>
                  <a:srgbClr val="3D4F61"/>
                </a:solidFill>
                <a:latin typeface="Calibri"/>
              </a:rPr>
              <a:t>утверждаю гипотезы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635240" y="3931920"/>
            <a:ext cx="1371600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635240" y="4041648"/>
            <a:ext cx="1371600" cy="36576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ctr"/>
            <a:r>
              <a:rPr sz="1800" b="1">
                <a:solidFill>
                  <a:srgbClr val="C4962C"/>
                </a:solidFill>
                <a:latin typeface="Calibri"/>
              </a:rPr>
              <a:t>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4434840"/>
            <a:ext cx="1371600" cy="64008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ctr"/>
            <a:r>
              <a:rPr sz="1300" b="1">
                <a:solidFill>
                  <a:srgbClr val="0B1F33"/>
                </a:solidFill>
                <a:latin typeface="Calibri"/>
              </a:rPr>
              <a:t>Мнение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90104" y="5074920"/>
            <a:ext cx="1261872" cy="96012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ctr"/>
            <a:r>
              <a:rPr sz="1100" b="0">
                <a:solidFill>
                  <a:srgbClr val="3D4F61"/>
                </a:solidFill>
                <a:latin typeface="Calibri"/>
              </a:rPr>
              <a:t>раздел I, 2–4 стр.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79992" y="3931920"/>
            <a:ext cx="1371600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079992" y="4041648"/>
            <a:ext cx="1371600" cy="36576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ctr"/>
            <a:r>
              <a:rPr sz="1800" b="1">
                <a:solidFill>
                  <a:srgbClr val="C4962C"/>
                </a:solidFill>
                <a:latin typeface="Calibri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79992" y="4434840"/>
            <a:ext cx="1371600" cy="64008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ctr"/>
            <a:r>
              <a:rPr sz="1300" b="1">
                <a:solidFill>
                  <a:srgbClr val="0B1F33"/>
                </a:solidFill>
                <a:latin typeface="Calibri"/>
              </a:rPr>
              <a:t>Заключение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34856" y="5074920"/>
            <a:ext cx="1261872" cy="96012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ctr"/>
            <a:r>
              <a:rPr sz="1100" b="0">
                <a:solidFill>
                  <a:srgbClr val="3D4F61"/>
                </a:solidFill>
                <a:latin typeface="Calibri"/>
              </a:rPr>
              <a:t>полный черновик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524744" y="3931920"/>
            <a:ext cx="1371600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524744" y="4041648"/>
            <a:ext cx="1371600" cy="36576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ctr"/>
            <a:r>
              <a:rPr sz="1800" b="1">
                <a:solidFill>
                  <a:srgbClr val="C4962C"/>
                </a:solidFill>
                <a:latin typeface="Calibri"/>
              </a:rPr>
              <a:t>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524744" y="4434840"/>
            <a:ext cx="1371600" cy="64008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ctr"/>
            <a:r>
              <a:rPr sz="1300" b="1">
                <a:solidFill>
                  <a:srgbClr val="0B1F33"/>
                </a:solidFill>
                <a:latin typeface="Calibri"/>
              </a:rPr>
              <a:t>Спросить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579608" y="5074920"/>
            <a:ext cx="1261872" cy="96012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ctr"/>
            <a:r>
              <a:rPr sz="1100" b="0">
                <a:solidFill>
                  <a:srgbClr val="3D4F61"/>
                </a:solidFill>
                <a:latin typeface="Calibri"/>
              </a:rPr>
              <a:t>вопрос Какой срок…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22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18288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47104"/>
            <a:ext cx="8595360" cy="256032"/>
          </a:xfrm>
          <a:prstGeom prst="rect">
            <a:avLst/>
          </a:prstGeom>
          <a:noFill/>
        </p:spPr>
        <p:txBody>
          <a:bodyPr wrap="square" lIns="18288" rIns="18288" tIns="36576" bIns="36576"/>
          <a:lstStyle/>
          <a:p>
            <a:pPr algn="l"/>
            <a:r>
              <a:rPr sz="1000" b="0">
                <a:solidFill>
                  <a:srgbClr val="9AB0C0"/>
                </a:solidFill>
                <a:latin typeface="Calibri"/>
              </a:rPr>
              <a:t>Аудитор  ·  коробочный ИИ-агент внутренней проверки  ·  конфиденциально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0" y="6547104"/>
            <a:ext cx="1554480" cy="256032"/>
          </a:xfrm>
          <a:prstGeom prst="rect">
            <a:avLst/>
          </a:prstGeom>
          <a:noFill/>
        </p:spPr>
        <p:txBody>
          <a:bodyPr wrap="square" lIns="18288" rIns="18288" tIns="36576" bIns="36576"/>
          <a:lstStyle/>
          <a:p>
            <a:pPr algn="r"/>
            <a:r>
              <a:rPr sz="1000" b="0">
                <a:solidFill>
                  <a:srgbClr val="9AB0C0"/>
                </a:solidFill>
                <a:latin typeface="Calibri"/>
              </a:rPr>
              <a:t>6  /  12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20040"/>
            <a:ext cx="164592" cy="164592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256032"/>
            <a:ext cx="10515600" cy="292608"/>
          </a:xfrm>
          <a:prstGeom prst="rect">
            <a:avLst/>
          </a:prstGeom>
          <a:noFill/>
        </p:spPr>
        <p:txBody>
          <a:bodyPr wrap="square" lIns="18288" rIns="18288" tIns="36576" bIns="36576"/>
          <a:lstStyle/>
          <a:p>
            <a:pPr algn="l"/>
            <a:r>
              <a:rPr sz="1100" b="1">
                <a:solidFill>
                  <a:srgbClr val="C4962C"/>
                </a:solidFill>
                <a:latin typeface="Calibri"/>
              </a:rPr>
              <a:t>ЧТО ПОЛУЧАЕТ АУДИТОР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75488"/>
            <a:ext cx="11155680" cy="502920"/>
          </a:xfrm>
          <a:prstGeom prst="rect">
            <a:avLst/>
          </a:prstGeom>
          <a:noFill/>
        </p:spPr>
        <p:txBody>
          <a:bodyPr wrap="square" lIns="18288" rIns="18288" tIns="36576" bIns="36576"/>
          <a:lstStyle/>
          <a:p>
            <a:pPr algn="l"/>
            <a:r>
              <a:rPr sz="2600" b="1">
                <a:solidFill>
                  <a:srgbClr val="0B1F33"/>
                </a:solidFill>
                <a:latin typeface="Calibri"/>
              </a:rPr>
              <a:t>Файлы, которые уносите из чата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987552"/>
            <a:ext cx="11155680" cy="384048"/>
          </a:xfrm>
          <a:prstGeom prst="rect">
            <a:avLst/>
          </a:prstGeom>
          <a:noFill/>
        </p:spPr>
        <p:txBody>
          <a:bodyPr wrap="square" lIns="18288" rIns="18288" tIns="36576" bIns="36576"/>
          <a:lstStyle/>
          <a:p>
            <a:pPr algn="l"/>
            <a:r>
              <a:rPr sz="1400" b="0">
                <a:solidFill>
                  <a:srgbClr val="3D4F61"/>
                </a:solidFill>
                <a:latin typeface="Calibri"/>
              </a:rPr>
              <a:t>В мнение и заключение попадают только гипотезы, которые вы подтвердили.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1444752"/>
            <a:ext cx="3749039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1609344"/>
            <a:ext cx="3383280" cy="32004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l"/>
            <a:r>
              <a:rPr sz="1400" b="1">
                <a:solidFill>
                  <a:srgbClr val="C4962C"/>
                </a:solidFill>
                <a:latin typeface="Calibri"/>
              </a:rPr>
              <a:t>.zip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920240"/>
            <a:ext cx="3383280" cy="41148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l"/>
            <a:r>
              <a:rPr sz="1600" b="1">
                <a:solidFill>
                  <a:srgbClr val="0B1F33"/>
                </a:solidFill>
                <a:latin typeface="Calibri"/>
              </a:rPr>
              <a:t>Библиотека законов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404872"/>
            <a:ext cx="3383280" cy="100584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l"/>
            <a:r>
              <a:rPr sz="1300" b="0">
                <a:solidFill>
                  <a:srgbClr val="3D4F61"/>
                </a:solidFill>
                <a:latin typeface="Calibri"/>
              </a:rPr>
              <a:t>Официальные тексты, которые вы утвердили — не то, что модель «вспомнила».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1444752"/>
            <a:ext cx="3749039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80560" y="1609344"/>
            <a:ext cx="3383280" cy="32004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l"/>
            <a:r>
              <a:rPr sz="1400" b="1">
                <a:solidFill>
                  <a:srgbClr val="C4962C"/>
                </a:solidFill>
                <a:latin typeface="Calibri"/>
              </a:rPr>
              <a:t>.docx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1920240"/>
            <a:ext cx="3383280" cy="41148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l"/>
            <a:r>
              <a:rPr sz="1600" b="1">
                <a:solidFill>
                  <a:srgbClr val="0B1F33"/>
                </a:solidFill>
                <a:latin typeface="Calibri"/>
              </a:rPr>
              <a:t>Обзор актов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2404872"/>
            <a:ext cx="3383280" cy="100584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l"/>
            <a:r>
              <a:rPr sz="1300" b="0">
                <a:solidFill>
                  <a:srgbClr val="3D4F61"/>
                </a:solidFill>
                <a:latin typeface="Calibri"/>
              </a:rPr>
              <a:t>Зачем каждый закон и какие статьи смотреть. Со ссылками на фрагменты.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83879" y="1444752"/>
            <a:ext cx="3749039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66759" y="1609344"/>
            <a:ext cx="3383280" cy="32004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l"/>
            <a:r>
              <a:rPr sz="1400" b="1">
                <a:solidFill>
                  <a:srgbClr val="C4962C"/>
                </a:solidFill>
                <a:latin typeface="Calibri"/>
              </a:rPr>
              <a:t>.docx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59" y="1920240"/>
            <a:ext cx="3383280" cy="41148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l"/>
            <a:r>
              <a:rPr sz="1600" b="1">
                <a:solidFill>
                  <a:srgbClr val="0B1F33"/>
                </a:solidFill>
                <a:latin typeface="Calibri"/>
              </a:rPr>
              <a:t>Программа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59" y="2404872"/>
            <a:ext cx="3383280" cy="100584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l"/>
            <a:r>
              <a:rPr sz="1300" b="0">
                <a:solidFill>
                  <a:srgbClr val="3D4F61"/>
                </a:solidFill>
                <a:latin typeface="Calibri"/>
              </a:rPr>
              <a:t>Черновик программы проверки: цель, риски, что запросить, как проверить.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1480" y="3776472"/>
            <a:ext cx="3749039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3941064"/>
            <a:ext cx="3383280" cy="32004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l"/>
            <a:r>
              <a:rPr sz="1400" b="1">
                <a:solidFill>
                  <a:srgbClr val="C4962C"/>
                </a:solidFill>
                <a:latin typeface="Calibri"/>
              </a:rPr>
              <a:t>.xlsx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4251960"/>
            <a:ext cx="3383280" cy="41148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l"/>
            <a:r>
              <a:rPr sz="1600" b="1">
                <a:solidFill>
                  <a:srgbClr val="0B1F33"/>
                </a:solidFill>
                <a:latin typeface="Calibri"/>
              </a:rPr>
              <a:t>Гипотезы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4736592"/>
            <a:ext cx="3383280" cy="100584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l"/>
            <a:r>
              <a:rPr sz="1300" b="0">
                <a:solidFill>
                  <a:srgbClr val="3D4F61"/>
                </a:solidFill>
                <a:latin typeface="Calibri"/>
              </a:rPr>
              <a:t>Чеклист 8–10 гипотез: что смотреть и на что опираться.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97680" y="3776472"/>
            <a:ext cx="3749039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80560" y="3941064"/>
            <a:ext cx="3383280" cy="32004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l"/>
            <a:r>
              <a:rPr sz="1400" b="1">
                <a:solidFill>
                  <a:srgbClr val="C4962C"/>
                </a:solidFill>
                <a:latin typeface="Calibri"/>
              </a:rPr>
              <a:t>.docx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60" y="4251960"/>
            <a:ext cx="3383280" cy="41148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l"/>
            <a:r>
              <a:rPr sz="1600" b="1">
                <a:solidFill>
                  <a:srgbClr val="0B1F33"/>
                </a:solidFill>
                <a:latin typeface="Calibri"/>
              </a:rPr>
              <a:t>Мнение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4736592"/>
            <a:ext cx="3383280" cy="100584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l"/>
            <a:r>
              <a:rPr sz="1300" b="0">
                <a:solidFill>
                  <a:srgbClr val="3D4F61"/>
                </a:solidFill>
                <a:latin typeface="Calibri"/>
              </a:rPr>
              <a:t>Раздел I для руководства банка. Черновик для правки, не подпись.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83879" y="3776472"/>
            <a:ext cx="3749039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66759" y="3941064"/>
            <a:ext cx="3383280" cy="32004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l"/>
            <a:r>
              <a:rPr sz="1400" b="1">
                <a:solidFill>
                  <a:srgbClr val="C4962C"/>
                </a:solidFill>
                <a:latin typeface="Calibri"/>
              </a:rPr>
              <a:t>.docx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66759" y="4251960"/>
            <a:ext cx="3383280" cy="41148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l"/>
            <a:r>
              <a:rPr sz="1600" b="1">
                <a:solidFill>
                  <a:srgbClr val="0B1F33"/>
                </a:solidFill>
                <a:latin typeface="Calibri"/>
              </a:rPr>
              <a:t>Заключение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66759" y="4736592"/>
            <a:ext cx="3383280" cy="100584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l"/>
            <a:r>
              <a:rPr sz="1300" b="0">
                <a:solidFill>
                  <a:srgbClr val="3D4F61"/>
                </a:solidFill>
                <a:latin typeface="Calibri"/>
              </a:rPr>
              <a:t>Титул, содержание, мнение, наблюдения. Не акт СВА.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22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18288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47104"/>
            <a:ext cx="8595360" cy="256032"/>
          </a:xfrm>
          <a:prstGeom prst="rect">
            <a:avLst/>
          </a:prstGeom>
          <a:noFill/>
        </p:spPr>
        <p:txBody>
          <a:bodyPr wrap="square" lIns="18288" rIns="18288" tIns="36576" bIns="36576"/>
          <a:lstStyle/>
          <a:p>
            <a:pPr algn="l"/>
            <a:r>
              <a:rPr sz="1000" b="0">
                <a:solidFill>
                  <a:srgbClr val="9AB0C0"/>
                </a:solidFill>
                <a:latin typeface="Calibri"/>
              </a:rPr>
              <a:t>Аудитор  ·  коробочный ИИ-агент внутренней проверки  ·  конфиденциально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0" y="6547104"/>
            <a:ext cx="1554480" cy="256032"/>
          </a:xfrm>
          <a:prstGeom prst="rect">
            <a:avLst/>
          </a:prstGeom>
          <a:noFill/>
        </p:spPr>
        <p:txBody>
          <a:bodyPr wrap="square" lIns="18288" rIns="18288" tIns="36576" bIns="36576"/>
          <a:lstStyle/>
          <a:p>
            <a:pPr algn="r"/>
            <a:r>
              <a:rPr sz="1000" b="0">
                <a:solidFill>
                  <a:srgbClr val="9AB0C0"/>
                </a:solidFill>
                <a:latin typeface="Calibri"/>
              </a:rPr>
              <a:t>7  /  12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20040"/>
            <a:ext cx="164592" cy="164592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256032"/>
            <a:ext cx="10515600" cy="292608"/>
          </a:xfrm>
          <a:prstGeom prst="rect">
            <a:avLst/>
          </a:prstGeom>
          <a:noFill/>
        </p:spPr>
        <p:txBody>
          <a:bodyPr wrap="square" lIns="18288" rIns="18288" tIns="36576" bIns="36576"/>
          <a:lstStyle/>
          <a:p>
            <a:pPr algn="l"/>
            <a:r>
              <a:rPr sz="1100" b="1">
                <a:solidFill>
                  <a:srgbClr val="C4962C"/>
                </a:solidFill>
                <a:latin typeface="Calibri"/>
              </a:rPr>
              <a:t>КАК УСТРОЕНО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75488"/>
            <a:ext cx="11155680" cy="502920"/>
          </a:xfrm>
          <a:prstGeom prst="rect">
            <a:avLst/>
          </a:prstGeom>
          <a:noFill/>
        </p:spPr>
        <p:txBody>
          <a:bodyPr wrap="square" lIns="18288" rIns="18288" tIns="36576" bIns="36576"/>
          <a:lstStyle/>
          <a:p>
            <a:pPr algn="l"/>
            <a:r>
              <a:rPr sz="2600" b="1">
                <a:solidFill>
                  <a:srgbClr val="0B1F33"/>
                </a:solidFill>
                <a:latin typeface="Calibri"/>
              </a:rPr>
              <a:t>Сборка готового, а не свой чат с нуля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188720"/>
            <a:ext cx="112471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1188720"/>
            <a:ext cx="91440" cy="1143000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389888"/>
            <a:ext cx="10698480" cy="822960"/>
          </a:xfrm>
          <a:prstGeom prst="rect">
            <a:avLst/>
          </a:prstGeom>
          <a:noFill/>
        </p:spPr>
        <p:txBody>
          <a:bodyPr wrap="square" tIns="36576" bIns="36576"/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B1F33"/>
                </a:solidFill>
                <a:latin typeface="Calibri"/>
              </a:rPr>
              <a:t>Чат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3D4F61"/>
                </a:solidFill>
                <a:latin typeface="Calibri"/>
              </a:rPr>
              <a:t>Одно окно для аудитора: вход, файлы, статусы. Отдельный сайт не нужен.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450591"/>
            <a:ext cx="112471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2450591"/>
            <a:ext cx="91440" cy="1143000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2651760"/>
            <a:ext cx="10698480" cy="822960"/>
          </a:xfrm>
          <a:prstGeom prst="rect">
            <a:avLst/>
          </a:prstGeom>
          <a:noFill/>
        </p:spPr>
        <p:txBody>
          <a:bodyPr wrap="square" tIns="36576" bIns="36576"/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B1F33"/>
                </a:solidFill>
                <a:latin typeface="Calibri"/>
              </a:rPr>
              <a:t>Агент «Аудитор»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3D4F61"/>
                </a:solidFill>
                <a:latin typeface="Calibri"/>
              </a:rPr>
              <a:t>Понимает обычные фразы: «утверждаю», «саммари», «вопрос …». Дальше вызывает сервер.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712463"/>
            <a:ext cx="112471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712463"/>
            <a:ext cx="91440" cy="1143000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913631"/>
            <a:ext cx="10698480" cy="822960"/>
          </a:xfrm>
          <a:prstGeom prst="rect">
            <a:avLst/>
          </a:prstGeom>
          <a:noFill/>
        </p:spPr>
        <p:txBody>
          <a:bodyPr wrap="square" tIns="36576" bIns="36576"/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B1F33"/>
                </a:solidFill>
                <a:latin typeface="Calibri"/>
              </a:rPr>
              <a:t>Сервер проверки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3D4F61"/>
                </a:solidFill>
                <a:latin typeface="Calibri"/>
              </a:rPr>
              <a:t>Дело на диске: какие законы утверждены, что скачано, какие черновики собраны.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4974336"/>
            <a:ext cx="112471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4974336"/>
            <a:ext cx="91440" cy="1143000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175503"/>
            <a:ext cx="10698480" cy="822960"/>
          </a:xfrm>
          <a:prstGeom prst="rect">
            <a:avLst/>
          </a:prstGeom>
          <a:noFill/>
        </p:spPr>
        <p:txBody>
          <a:bodyPr wrap="square" tIns="36576" bIns="36576"/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B1F33"/>
                </a:solidFill>
                <a:latin typeface="Calibri"/>
              </a:rPr>
              <a:t>На машине банка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3D4F61"/>
                </a:solidFill>
                <a:latin typeface="Calibri"/>
              </a:rPr>
              <a:t>Модели локально. Поиск только по официальным сайтам РБ. Файлы дела — на диске.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22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18288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47104"/>
            <a:ext cx="8595360" cy="256032"/>
          </a:xfrm>
          <a:prstGeom prst="rect">
            <a:avLst/>
          </a:prstGeom>
          <a:noFill/>
        </p:spPr>
        <p:txBody>
          <a:bodyPr wrap="square" lIns="18288" rIns="18288" tIns="36576" bIns="36576"/>
          <a:lstStyle/>
          <a:p>
            <a:pPr algn="l"/>
            <a:r>
              <a:rPr sz="1000" b="0">
                <a:solidFill>
                  <a:srgbClr val="9AB0C0"/>
                </a:solidFill>
                <a:latin typeface="Calibri"/>
              </a:rPr>
              <a:t>Аудитор  ·  коробочный ИИ-агент внутренней проверки  ·  конфиденциально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0" y="6547104"/>
            <a:ext cx="1554480" cy="256032"/>
          </a:xfrm>
          <a:prstGeom prst="rect">
            <a:avLst/>
          </a:prstGeom>
          <a:noFill/>
        </p:spPr>
        <p:txBody>
          <a:bodyPr wrap="square" lIns="18288" rIns="18288" tIns="36576" bIns="36576"/>
          <a:lstStyle/>
          <a:p>
            <a:pPr algn="r"/>
            <a:r>
              <a:rPr sz="1000" b="0">
                <a:solidFill>
                  <a:srgbClr val="9AB0C0"/>
                </a:solidFill>
                <a:latin typeface="Calibri"/>
              </a:rPr>
              <a:t>8  /  12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20040"/>
            <a:ext cx="164592" cy="164592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256032"/>
            <a:ext cx="10515600" cy="292608"/>
          </a:xfrm>
          <a:prstGeom prst="rect">
            <a:avLst/>
          </a:prstGeom>
          <a:noFill/>
        </p:spPr>
        <p:txBody>
          <a:bodyPr wrap="square" lIns="18288" rIns="18288" tIns="36576" bIns="36576"/>
          <a:lstStyle/>
          <a:p>
            <a:pPr algn="l"/>
            <a:r>
              <a:rPr sz="1100" b="1">
                <a:solidFill>
                  <a:srgbClr val="C4962C"/>
                </a:solidFill>
                <a:latin typeface="Calibri"/>
              </a:rPr>
              <a:t>ЦИТАТА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75488"/>
            <a:ext cx="11155680" cy="502920"/>
          </a:xfrm>
          <a:prstGeom prst="rect">
            <a:avLst/>
          </a:prstGeom>
          <a:noFill/>
        </p:spPr>
        <p:txBody>
          <a:bodyPr wrap="square" lIns="18288" rIns="18288" tIns="36576" bIns="36576"/>
          <a:lstStyle/>
          <a:p>
            <a:pPr algn="l"/>
            <a:r>
              <a:rPr sz="2600" b="1">
                <a:solidFill>
                  <a:srgbClr val="0B1F33"/>
                </a:solidFill>
                <a:latin typeface="Calibri"/>
              </a:rPr>
              <a:t>Модель думает. Документы доказывают.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987552"/>
            <a:ext cx="11155680" cy="384048"/>
          </a:xfrm>
          <a:prstGeom prst="rect">
            <a:avLst/>
          </a:prstGeom>
          <a:noFill/>
        </p:spPr>
        <p:txBody>
          <a:bodyPr wrap="square" lIns="18288" rIns="18288" tIns="36576" bIns="36576"/>
          <a:lstStyle/>
          <a:p>
            <a:pPr algn="l"/>
            <a:r>
              <a:rPr sz="1400" b="0">
                <a:solidFill>
                  <a:srgbClr val="3D4F61"/>
                </a:solidFill>
                <a:latin typeface="Calibri"/>
              </a:rPr>
              <a:t>На вопрос агент отвечает кусками из утверждённых законов. Нет куска — статью не выдумывает.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1444752"/>
            <a:ext cx="3749039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6072" y="1554480"/>
            <a:ext cx="3419856" cy="36576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l"/>
            <a:r>
              <a:rPr sz="1500" b="1">
                <a:solidFill>
                  <a:srgbClr val="C4962C"/>
                </a:solidFill>
                <a:latin typeface="Calibri"/>
              </a:rPr>
              <a:t>Чат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" y="1938528"/>
            <a:ext cx="3419856" cy="86868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l"/>
            <a:r>
              <a:rPr sz="1300" b="0">
                <a:solidFill>
                  <a:srgbClr val="142233"/>
                </a:solidFill>
                <a:latin typeface="Calibri"/>
              </a:rPr>
              <a:t>Пишет список законов, обзор, программу, мнение и заключение.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97680" y="1444752"/>
            <a:ext cx="3749039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62272" y="1554480"/>
            <a:ext cx="3419856" cy="36576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l"/>
            <a:r>
              <a:rPr sz="1500" b="1">
                <a:solidFill>
                  <a:srgbClr val="C4962C"/>
                </a:solidFill>
                <a:latin typeface="Calibri"/>
              </a:rPr>
              <a:t>Поиск по смыслу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1938528"/>
            <a:ext cx="3419856" cy="86868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l"/>
            <a:r>
              <a:rPr sz="1300" b="0">
                <a:solidFill>
                  <a:srgbClr val="142233"/>
                </a:solidFill>
                <a:latin typeface="Calibri"/>
              </a:rPr>
              <a:t>Находит нужную статью в библиотеке этой проверки.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83879" y="1444752"/>
            <a:ext cx="3749039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48471" y="1554480"/>
            <a:ext cx="3419856" cy="36576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l"/>
            <a:r>
              <a:rPr sz="1500" b="1">
                <a:solidFill>
                  <a:srgbClr val="C4962C"/>
                </a:solidFill>
                <a:latin typeface="Calibri"/>
              </a:rPr>
              <a:t>Перепроверка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48471" y="1938528"/>
            <a:ext cx="3419856" cy="86868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l"/>
            <a:r>
              <a:rPr sz="1300" b="0">
                <a:solidFill>
                  <a:srgbClr val="142233"/>
                </a:solidFill>
                <a:latin typeface="Calibri"/>
              </a:rPr>
              <a:t>Отсекает похожие, но не те фрагменты — чтобы не перепутать статьи.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3154680"/>
            <a:ext cx="6903720" cy="3063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3246120"/>
            <a:ext cx="6537960" cy="32004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l"/>
            <a:r>
              <a:rPr sz="1500" b="1">
                <a:solidFill>
                  <a:srgbClr val="0B1F33"/>
                </a:solidFill>
                <a:latin typeface="Calibri"/>
              </a:rPr>
              <a:t>Как отвечает на вопрос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3611880"/>
            <a:ext cx="6537960" cy="242316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l"/>
            <a:r>
              <a:rPr sz="1400" b="0">
                <a:solidFill>
                  <a:srgbClr val="142233"/>
                </a:solidFill>
                <a:latin typeface="Calibri"/>
              </a:rPr>
              <a:t>1.  Пишете «вопрос …». Без этого слова — просто разговор, не норма.</a:t>
            </a:r>
            <a:br/>
            <a:r>
              <a:t>2.  Система ищет куски в законах, которые вы утвердили.</a:t>
            </a:r>
            <a:br/>
            <a:r>
              <a:t>3.  Модель видит только эти куски — не «память» и не интернет.</a:t>
            </a:r>
            <a:br/>
            <a:r>
              <a:t>4.  Куска нет — отказ. Статью из головы не подставляет.</a:t>
            </a:r>
            <a:br/>
            <a:r>
              <a:t>5.  В ответе блок «Откуда» — сверяете с файлом в деле.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498079" y="3154680"/>
            <a:ext cx="4251960" cy="3063240"/>
          </a:xfrm>
          <a:prstGeom prst="roundRect">
            <a:avLst>
              <a:gd name="adj" fmla="val 8000"/>
            </a:avLst>
          </a:prstGeom>
          <a:solidFill>
            <a:srgbClr val="F6F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80960" y="3246120"/>
            <a:ext cx="3886200" cy="32004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l"/>
            <a:r>
              <a:rPr sz="1500" b="1">
                <a:solidFill>
                  <a:srgbClr val="0B1F33"/>
                </a:solidFill>
                <a:latin typeface="Calibri"/>
              </a:rPr>
              <a:t>Закон ≠ цифра клиента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0" y="3657600"/>
            <a:ext cx="3886200" cy="233172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l"/>
            <a:r>
              <a:rPr sz="1400" b="0">
                <a:solidFill>
                  <a:srgbClr val="142233"/>
                </a:solidFill>
                <a:latin typeface="Calibri"/>
              </a:rPr>
              <a:t>Закон — из библиотеки проверки, со ссылкой на статью.</a:t>
            </a:r>
            <a:br/>
            <a:br/>
            <a:r>
              <a:t>Цифры клиента (договоры, выгрузки) — следующий этап. Excel в базу законов не кладём.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22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18288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47104"/>
            <a:ext cx="8595360" cy="256032"/>
          </a:xfrm>
          <a:prstGeom prst="rect">
            <a:avLst/>
          </a:prstGeom>
          <a:noFill/>
        </p:spPr>
        <p:txBody>
          <a:bodyPr wrap="square" lIns="18288" rIns="18288" tIns="36576" bIns="36576"/>
          <a:lstStyle/>
          <a:p>
            <a:pPr algn="l"/>
            <a:r>
              <a:rPr sz="1000" b="0">
                <a:solidFill>
                  <a:srgbClr val="9AB0C0"/>
                </a:solidFill>
                <a:latin typeface="Calibri"/>
              </a:rPr>
              <a:t>Аудитор  ·  коробочный ИИ-агент внутренней проверки  ·  конфиденциально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0" y="6547104"/>
            <a:ext cx="1554480" cy="256032"/>
          </a:xfrm>
          <a:prstGeom prst="rect">
            <a:avLst/>
          </a:prstGeom>
          <a:noFill/>
        </p:spPr>
        <p:txBody>
          <a:bodyPr wrap="square" lIns="18288" rIns="18288" tIns="36576" bIns="36576"/>
          <a:lstStyle/>
          <a:p>
            <a:pPr algn="r"/>
            <a:r>
              <a:rPr sz="1000" b="0">
                <a:solidFill>
                  <a:srgbClr val="9AB0C0"/>
                </a:solidFill>
                <a:latin typeface="Calibri"/>
              </a:rPr>
              <a:t>9  /  12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20040"/>
            <a:ext cx="164592" cy="164592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256032"/>
            <a:ext cx="10515600" cy="292608"/>
          </a:xfrm>
          <a:prstGeom prst="rect">
            <a:avLst/>
          </a:prstGeom>
          <a:noFill/>
        </p:spPr>
        <p:txBody>
          <a:bodyPr wrap="square" lIns="18288" rIns="18288" tIns="36576" bIns="36576"/>
          <a:lstStyle/>
          <a:p>
            <a:pPr algn="l"/>
            <a:r>
              <a:rPr sz="1100" b="1">
                <a:solidFill>
                  <a:srgbClr val="C4962C"/>
                </a:solidFill>
                <a:latin typeface="Calibri"/>
              </a:rPr>
              <a:t>АУДИТОР РЕШАЕТ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75488"/>
            <a:ext cx="11155680" cy="502920"/>
          </a:xfrm>
          <a:prstGeom prst="rect">
            <a:avLst/>
          </a:prstGeom>
          <a:noFill/>
        </p:spPr>
        <p:txBody>
          <a:bodyPr wrap="square" lIns="18288" rIns="18288" tIns="36576" bIns="36576"/>
          <a:lstStyle/>
          <a:p>
            <a:pPr algn="l"/>
            <a:r>
              <a:rPr sz="2600" b="1">
                <a:solidFill>
                  <a:srgbClr val="0B1F33"/>
                </a:solidFill>
                <a:latin typeface="Calibri"/>
              </a:rPr>
              <a:t>Два стоп-крана: законы и гипотезы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1188720"/>
            <a:ext cx="566928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1188720"/>
            <a:ext cx="91440" cy="1965960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" y="1353312"/>
            <a:ext cx="5212080" cy="1691640"/>
          </a:xfrm>
          <a:prstGeom prst="rect">
            <a:avLst/>
          </a:prstGeom>
          <a:noFill/>
        </p:spPr>
        <p:txBody>
          <a:bodyPr wrap="square" tIns="36576" bIns="36576"/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0B1F33"/>
                </a:solidFill>
                <a:latin typeface="Calibri"/>
              </a:rPr>
              <a:t>1. Законы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3D4F61"/>
                </a:solidFill>
                <a:latin typeface="Calibri"/>
              </a:rPr>
              <a:t>Модель предлагает список актов.</a:t>
            </a:r>
            <a:br/>
            <a:r>
              <a:t>Пока не напишете «утверждаю 1, 2, 4» — ничего не скачивается.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188720"/>
            <a:ext cx="566928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188720"/>
            <a:ext cx="91440" cy="1965960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19672" y="1353312"/>
            <a:ext cx="5212080" cy="1691640"/>
          </a:xfrm>
          <a:prstGeom prst="rect">
            <a:avLst/>
          </a:prstGeom>
          <a:noFill/>
        </p:spPr>
        <p:txBody>
          <a:bodyPr wrap="square" tIns="36576" bIns="36576"/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0B1F33"/>
                </a:solidFill>
                <a:latin typeface="Calibri"/>
              </a:rPr>
              <a:t>2. Гипотезы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3D4F61"/>
                </a:solidFill>
                <a:latin typeface="Calibri"/>
              </a:rPr>
              <a:t>Excel готов. Пока не напишете «утверждаю гипотезы 1, 3, 5» — нет мнения и заключения.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1480" y="3337560"/>
            <a:ext cx="5669280" cy="2880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3474720"/>
            <a:ext cx="5303520" cy="36576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l"/>
            <a:r>
              <a:rPr sz="1600" b="1">
                <a:solidFill>
                  <a:srgbClr val="C4962C"/>
                </a:solidFill>
                <a:latin typeface="Calibri"/>
              </a:rPr>
              <a:t>Где модель молчит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913632"/>
            <a:ext cx="5303520" cy="210312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l"/>
            <a:r>
              <a:rPr sz="1400" b="0">
                <a:solidFill>
                  <a:srgbClr val="142233"/>
                </a:solidFill>
                <a:latin typeface="Calibri"/>
              </a:rPr>
              <a:t>утверждаю, скачай, документы, статус, помощь — это код, не нейросеть.</a:t>
            </a:r>
            <a:br/>
            <a:br/>
            <a:r>
              <a:t>Выдумать статью на этом шаге нельзя: качается только то, что вы выбрали.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337560"/>
            <a:ext cx="5486400" cy="2880360"/>
          </a:xfrm>
          <a:prstGeom prst="roundRect">
            <a:avLst>
              <a:gd name="adj" fmla="val 8000"/>
            </a:avLst>
          </a:prstGeom>
          <a:solidFill>
            <a:srgbClr val="F6F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3474720"/>
            <a:ext cx="5120640" cy="36576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l"/>
            <a:r>
              <a:rPr sz="1600" b="1">
                <a:solidFill>
                  <a:srgbClr val="C4962C"/>
                </a:solidFill>
                <a:latin typeface="Calibri"/>
              </a:rPr>
              <a:t>Где модель говорит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3913632"/>
            <a:ext cx="5120640" cy="210312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l"/>
            <a:r>
              <a:rPr sz="1400" b="0">
                <a:solidFill>
                  <a:srgbClr val="142233"/>
                </a:solidFill>
                <a:latin typeface="Calibri"/>
              </a:rPr>
              <a:t>Список актов, тексты Word и Excel, ответ на вопрос по найденным кускам, обычный разговор в чате.</a:t>
            </a:r>
            <a:br/>
            <a:br/>
            <a:r>
              <a:t>Черновик можно править. Подпись — ваша.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22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18288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47104"/>
            <a:ext cx="8595360" cy="256032"/>
          </a:xfrm>
          <a:prstGeom prst="rect">
            <a:avLst/>
          </a:prstGeom>
          <a:noFill/>
        </p:spPr>
        <p:txBody>
          <a:bodyPr wrap="square" lIns="18288" rIns="18288" tIns="36576" bIns="36576"/>
          <a:lstStyle/>
          <a:p>
            <a:pPr algn="l"/>
            <a:r>
              <a:rPr sz="1000" b="0">
                <a:solidFill>
                  <a:srgbClr val="9AB0C0"/>
                </a:solidFill>
                <a:latin typeface="Calibri"/>
              </a:rPr>
              <a:t>Аудитор  ·  коробочный ИИ-агент внутренней проверки  ·  конфиденциально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0" y="6547104"/>
            <a:ext cx="1554480" cy="256032"/>
          </a:xfrm>
          <a:prstGeom prst="rect">
            <a:avLst/>
          </a:prstGeom>
          <a:noFill/>
        </p:spPr>
        <p:txBody>
          <a:bodyPr wrap="square" lIns="18288" rIns="18288" tIns="36576" bIns="36576"/>
          <a:lstStyle/>
          <a:p>
            <a:pPr algn="r"/>
            <a:r>
              <a:rPr sz="1000" b="0">
                <a:solidFill>
                  <a:srgbClr val="9AB0C0"/>
                </a:solidFill>
                <a:latin typeface="Calibri"/>
              </a:rPr>
              <a:t>10  /  12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20040"/>
            <a:ext cx="164592" cy="164592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256032"/>
            <a:ext cx="10515600" cy="292608"/>
          </a:xfrm>
          <a:prstGeom prst="rect">
            <a:avLst/>
          </a:prstGeom>
          <a:noFill/>
        </p:spPr>
        <p:txBody>
          <a:bodyPr wrap="square" lIns="18288" rIns="18288" tIns="36576" bIns="36576"/>
          <a:lstStyle/>
          <a:p>
            <a:pPr algn="l"/>
            <a:r>
              <a:rPr sz="1100" b="1">
                <a:solidFill>
                  <a:srgbClr val="C4962C"/>
                </a:solidFill>
                <a:latin typeface="Calibri"/>
              </a:rPr>
              <a:t>КОНТУР БАНКА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75488"/>
            <a:ext cx="11155680" cy="502920"/>
          </a:xfrm>
          <a:prstGeom prst="rect">
            <a:avLst/>
          </a:prstGeom>
          <a:noFill/>
        </p:spPr>
        <p:txBody>
          <a:bodyPr wrap="square" lIns="18288" rIns="18288" tIns="36576" bIns="36576"/>
          <a:lstStyle/>
          <a:p>
            <a:pPr algn="l"/>
            <a:r>
              <a:rPr sz="2600" b="1">
                <a:solidFill>
                  <a:srgbClr val="0B1F33"/>
                </a:solidFill>
                <a:latin typeface="Calibri"/>
              </a:rPr>
              <a:t>Данные не уходят в облако — так задумано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1188720"/>
            <a:ext cx="3749039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389888"/>
            <a:ext cx="3383280" cy="45720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l"/>
            <a:r>
              <a:rPr sz="1600" b="1">
                <a:solidFill>
                  <a:srgbClr val="0B1F33"/>
                </a:solidFill>
                <a:latin typeface="Calibri"/>
              </a:rPr>
              <a:t>Модели на месте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920240"/>
            <a:ext cx="3383280" cy="132588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l"/>
            <a:r>
              <a:rPr sz="1400" b="0">
                <a:solidFill>
                  <a:srgbClr val="3D4F61"/>
                </a:solidFill>
                <a:latin typeface="Calibri"/>
              </a:rPr>
              <a:t>Чат и поиск крутятся на машине банка. Формулировки проверки не уходят в интернет.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1188720"/>
            <a:ext cx="3749039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0560" y="1389888"/>
            <a:ext cx="3383280" cy="45720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l"/>
            <a:r>
              <a:rPr sz="1600" b="1">
                <a:solidFill>
                  <a:srgbClr val="0B1F33"/>
                </a:solidFill>
                <a:latin typeface="Calibri"/>
              </a:rPr>
              <a:t>Только сайты РБ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1920240"/>
            <a:ext cx="3383280" cy="132588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l"/>
            <a:r>
              <a:rPr sz="1400" b="0">
                <a:solidFill>
                  <a:srgbClr val="3D4F61"/>
                </a:solidFill>
                <a:latin typeface="Calibri"/>
              </a:rPr>
              <a:t>Качаем pravo.by, nbrb.by и другие официальные домены. Внешний поиск выключен.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83879" y="1188720"/>
            <a:ext cx="3749039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66759" y="1389888"/>
            <a:ext cx="3383280" cy="45720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l"/>
            <a:r>
              <a:rPr sz="1600" b="1">
                <a:solidFill>
                  <a:srgbClr val="0B1F33"/>
                </a:solidFill>
                <a:latin typeface="Calibri"/>
              </a:rPr>
              <a:t>Клиент не в поиск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59" y="1920240"/>
            <a:ext cx="3383280" cy="132588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l"/>
            <a:r>
              <a:rPr sz="1400" b="0">
                <a:solidFill>
                  <a:srgbClr val="3D4F61"/>
                </a:solidFill>
                <a:latin typeface="Calibri"/>
              </a:rPr>
              <a:t>Выгрузки, договоры и суммы в поисковик не передаются. Поиск в чате выключен.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3657600"/>
            <a:ext cx="3749039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3858768"/>
            <a:ext cx="3383280" cy="45720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l"/>
            <a:r>
              <a:rPr sz="1600" b="1">
                <a:solidFill>
                  <a:srgbClr val="0B1F33"/>
                </a:solidFill>
                <a:latin typeface="Calibri"/>
              </a:rPr>
              <a:t>Закон отдельно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4389120"/>
            <a:ext cx="3383280" cy="132588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l"/>
            <a:r>
              <a:rPr sz="1400" b="0">
                <a:solidFill>
                  <a:srgbClr val="3D4F61"/>
                </a:solidFill>
                <a:latin typeface="Calibri"/>
              </a:rPr>
              <a:t>Закон и цифры клиента лежат раздельно. Excel клиента в базу законов класть нельзя.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0" y="3657600"/>
            <a:ext cx="3749039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80560" y="3858768"/>
            <a:ext cx="3383280" cy="45720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l"/>
            <a:r>
              <a:rPr sz="1600" b="1">
                <a:solidFill>
                  <a:srgbClr val="0B1F33"/>
                </a:solidFill>
                <a:latin typeface="Calibri"/>
              </a:rPr>
              <a:t>Только эта машина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4389120"/>
            <a:ext cx="3383280" cy="132588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l"/>
            <a:r>
              <a:rPr sz="1400" b="0">
                <a:solidFill>
                  <a:srgbClr val="3D4F61"/>
                </a:solidFill>
                <a:latin typeface="Calibri"/>
              </a:rPr>
              <a:t>Чат открывается только на этой машине. С соседнего компьютера зайти нельзя.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83879" y="3657600"/>
            <a:ext cx="3749039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66759" y="3858768"/>
            <a:ext cx="3383280" cy="45720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l"/>
            <a:r>
              <a:rPr sz="1600" b="1">
                <a:solidFill>
                  <a:srgbClr val="0B1F33"/>
                </a:solidFill>
                <a:latin typeface="Calibri"/>
              </a:rPr>
              <a:t>След вопроса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66759" y="4389120"/>
            <a:ext cx="3383280" cy="132588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l"/>
            <a:r>
              <a:rPr sz="1400" b="0">
                <a:solidFill>
                  <a:srgbClr val="3D4F61"/>
                </a:solidFill>
                <a:latin typeface="Calibri"/>
              </a:rPr>
              <a:t>Какой вопрос задали и из какого фрагмента ответили — пишется в журнал дела.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22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18288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47104"/>
            <a:ext cx="8595360" cy="256032"/>
          </a:xfrm>
          <a:prstGeom prst="rect">
            <a:avLst/>
          </a:prstGeom>
          <a:noFill/>
        </p:spPr>
        <p:txBody>
          <a:bodyPr wrap="square" lIns="18288" rIns="18288" tIns="36576" bIns="36576"/>
          <a:lstStyle/>
          <a:p>
            <a:pPr algn="l"/>
            <a:r>
              <a:rPr sz="1000" b="0">
                <a:solidFill>
                  <a:srgbClr val="9AB0C0"/>
                </a:solidFill>
                <a:latin typeface="Calibri"/>
              </a:rPr>
              <a:t>Аудитор  ·  коробочный ИИ-агент внутренней проверки  ·  конфиденциально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0" y="6547104"/>
            <a:ext cx="1554480" cy="256032"/>
          </a:xfrm>
          <a:prstGeom prst="rect">
            <a:avLst/>
          </a:prstGeom>
          <a:noFill/>
        </p:spPr>
        <p:txBody>
          <a:bodyPr wrap="square" lIns="18288" rIns="18288" tIns="36576" bIns="36576"/>
          <a:lstStyle/>
          <a:p>
            <a:pPr algn="r"/>
            <a:r>
              <a:rPr sz="1000" b="0">
                <a:solidFill>
                  <a:srgbClr val="9AB0C0"/>
                </a:solidFill>
                <a:latin typeface="Calibri"/>
              </a:rPr>
              <a:t>11  /  12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20040"/>
            <a:ext cx="164592" cy="164592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256032"/>
            <a:ext cx="10515600" cy="292608"/>
          </a:xfrm>
          <a:prstGeom prst="rect">
            <a:avLst/>
          </a:prstGeom>
          <a:noFill/>
        </p:spPr>
        <p:txBody>
          <a:bodyPr wrap="square" lIns="18288" rIns="18288" tIns="36576" bIns="36576"/>
          <a:lstStyle/>
          <a:p>
            <a:pPr algn="l"/>
            <a:r>
              <a:rPr sz="1100" b="1">
                <a:solidFill>
                  <a:srgbClr val="C4962C"/>
                </a:solidFill>
                <a:latin typeface="Calibri"/>
              </a:rPr>
              <a:t>ПОСТАВКА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75488"/>
            <a:ext cx="11155680" cy="502920"/>
          </a:xfrm>
          <a:prstGeom prst="rect">
            <a:avLst/>
          </a:prstGeom>
          <a:noFill/>
        </p:spPr>
        <p:txBody>
          <a:bodyPr wrap="square" lIns="18288" rIns="18288" tIns="36576" bIns="36576"/>
          <a:lstStyle/>
          <a:p>
            <a:pPr algn="l"/>
            <a:r>
              <a:rPr sz="2600" b="1">
                <a:solidFill>
                  <a:srgbClr val="0B1F33"/>
                </a:solidFill>
                <a:latin typeface="Calibri"/>
              </a:rPr>
              <a:t>Коробка, а не стенд разработчика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987552"/>
            <a:ext cx="11155680" cy="384048"/>
          </a:xfrm>
          <a:prstGeom prst="rect">
            <a:avLst/>
          </a:prstGeom>
          <a:noFill/>
        </p:spPr>
        <p:txBody>
          <a:bodyPr wrap="square" lIns="18288" rIns="18288" tIns="36576" bIns="36576"/>
          <a:lstStyle/>
          <a:p>
            <a:pPr algn="l"/>
            <a:r>
              <a:rPr sz="1400" b="0">
                <a:solidFill>
                  <a:srgbClr val="3D4F61"/>
                </a:solidFill>
                <a:latin typeface="Calibri"/>
              </a:rPr>
              <a:t>Аудитору не нужно выбирать модели и включать поиск. Открыл чат — работает.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1417320"/>
            <a:ext cx="11338560" cy="777240"/>
          </a:xfrm>
          <a:prstGeom prst="roundRect">
            <a:avLst>
              <a:gd name="adj" fmla="val 8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1554480"/>
            <a:ext cx="10972800" cy="50292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docker compose up -d --build     →     http://localhost:3000     →     модель «Аудитор»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2359152"/>
            <a:ext cx="3749039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2514600"/>
            <a:ext cx="3383280" cy="41148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l"/>
            <a:r>
              <a:rPr sz="1600" b="1">
                <a:solidFill>
                  <a:srgbClr val="C4962C"/>
                </a:solidFill>
                <a:latin typeface="Calibri"/>
              </a:rPr>
              <a:t>Уже в коробке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2971800"/>
            <a:ext cx="3383280" cy="297180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l"/>
            <a:r>
              <a:rPr sz="1400" b="0">
                <a:solidFill>
                  <a:srgbClr val="142233"/>
                </a:solidFill>
                <a:latin typeface="Calibri"/>
              </a:rPr>
              <a:t>Чат, сервер и поиск — одна команда.</a:t>
            </a:r>
            <a:br/>
            <a:r>
              <a:t>Модели локально, на хосте банка.</a:t>
            </a:r>
            <a:br/>
            <a:r>
              <a:t>Поиск в чате выключен.</a:t>
            </a:r>
            <a:br/>
            <a:r>
              <a:t>Агент ставится при запуске (нужен ключ администратора).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0" y="2359152"/>
            <a:ext cx="3749039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0560" y="2514600"/>
            <a:ext cx="3383280" cy="41148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l"/>
            <a:r>
              <a:rPr sz="1600" b="1">
                <a:solidFill>
                  <a:srgbClr val="C4962C"/>
                </a:solidFill>
                <a:latin typeface="Calibri"/>
              </a:rPr>
              <a:t>Качество сразу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2971800"/>
            <a:ext cx="3383280" cy="297180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l"/>
            <a:r>
              <a:rPr sz="1400" b="0">
                <a:solidFill>
                  <a:srgbClr val="142233"/>
                </a:solidFill>
                <a:latin typeface="Calibri"/>
              </a:rPr>
              <a:t>Промпты методолога внутреннего аудита.</a:t>
            </a:r>
            <a:br/>
            <a:r>
              <a:t>Нет фрагмента — отказ, не статья «из памяти».</a:t>
            </a:r>
            <a:br/>
            <a:r>
              <a:t>Нормы РФ / ЕС / IFRS сами не подставляет.</a:t>
            </a:r>
            <a:br/>
            <a:r>
              <a:t>Два стоп-крана: законы и гипотезы.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83879" y="2359152"/>
            <a:ext cx="3749039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66759" y="2514600"/>
            <a:ext cx="3383280" cy="41148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l"/>
            <a:r>
              <a:rPr sz="1600" b="1">
                <a:solidFill>
                  <a:srgbClr val="C4962C"/>
                </a:solidFill>
                <a:latin typeface="Calibri"/>
              </a:rPr>
              <a:t>Что это даёт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59" y="2971800"/>
            <a:ext cx="3383280" cy="297180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l"/>
            <a:r>
              <a:rPr sz="1400" b="0">
                <a:solidFill>
                  <a:srgbClr val="142233"/>
                </a:solidFill>
                <a:latin typeface="Calibri"/>
              </a:rPr>
              <a:t>Один адрес для аудитора.</a:t>
            </a:r>
            <a:br/>
            <a:r>
              <a:t>Не облачный сервис с файлами банка снаружи.</a:t>
            </a:r>
            <a:br/>
            <a:r>
              <a:t>Можно поставить в контур СВА.</a:t>
            </a:r>
            <a:br/>
            <a:r>
              <a:t>Следующая проверка — тот же чат, новое окно.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22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18288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47104"/>
            <a:ext cx="8595360" cy="256032"/>
          </a:xfrm>
          <a:prstGeom prst="rect">
            <a:avLst/>
          </a:prstGeom>
          <a:noFill/>
        </p:spPr>
        <p:txBody>
          <a:bodyPr wrap="square" lIns="18288" rIns="18288" tIns="36576" bIns="36576"/>
          <a:lstStyle/>
          <a:p>
            <a:pPr algn="l"/>
            <a:r>
              <a:rPr sz="1000" b="0">
                <a:solidFill>
                  <a:srgbClr val="9AB0C0"/>
                </a:solidFill>
                <a:latin typeface="Calibri"/>
              </a:rPr>
              <a:t>Аудитор  ·  коробочный ИИ-агент внутренней проверки  ·  конфиденциально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0" y="6547104"/>
            <a:ext cx="1554480" cy="256032"/>
          </a:xfrm>
          <a:prstGeom prst="rect">
            <a:avLst/>
          </a:prstGeom>
          <a:noFill/>
        </p:spPr>
        <p:txBody>
          <a:bodyPr wrap="square" lIns="18288" rIns="18288" tIns="36576" bIns="36576"/>
          <a:lstStyle/>
          <a:p>
            <a:pPr algn="r"/>
            <a:r>
              <a:rPr sz="1000" b="0">
                <a:solidFill>
                  <a:srgbClr val="9AB0C0"/>
                </a:solidFill>
                <a:latin typeface="Calibri"/>
              </a:rPr>
              <a:t>12  /  12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20040"/>
            <a:ext cx="164592" cy="164592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256032"/>
            <a:ext cx="10515600" cy="292608"/>
          </a:xfrm>
          <a:prstGeom prst="rect">
            <a:avLst/>
          </a:prstGeom>
          <a:noFill/>
        </p:spPr>
        <p:txBody>
          <a:bodyPr wrap="square" lIns="18288" rIns="18288" tIns="36576" bIns="36576"/>
          <a:lstStyle/>
          <a:p>
            <a:pPr algn="l"/>
            <a:r>
              <a:rPr sz="1100" b="1">
                <a:solidFill>
                  <a:srgbClr val="C4962C"/>
                </a:solidFill>
                <a:latin typeface="Calibri"/>
              </a:rPr>
              <a:t>ИТОГ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75488"/>
            <a:ext cx="11155680" cy="502920"/>
          </a:xfrm>
          <a:prstGeom prst="rect">
            <a:avLst/>
          </a:prstGeom>
          <a:noFill/>
        </p:spPr>
        <p:txBody>
          <a:bodyPr wrap="square" lIns="18288" rIns="18288" tIns="36576" bIns="36576"/>
          <a:lstStyle/>
          <a:p>
            <a:pPr algn="l"/>
            <a:r>
              <a:rPr sz="2600" b="1">
                <a:solidFill>
                  <a:srgbClr val="0B1F33"/>
                </a:solidFill>
                <a:latin typeface="Calibri"/>
              </a:rPr>
              <a:t>Агент, которому можно доверить контур проверки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1188720"/>
            <a:ext cx="5623560" cy="3794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325880"/>
            <a:ext cx="5257800" cy="36576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l"/>
            <a:r>
              <a:rPr sz="1600" b="1">
                <a:solidFill>
                  <a:srgbClr val="C4962C"/>
                </a:solidFill>
                <a:latin typeface="Calibri"/>
              </a:rPr>
              <a:t>Что уже можно показать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783080"/>
            <a:ext cx="5257800" cy="297180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l"/>
            <a:r>
              <a:rPr sz="1400" b="0">
                <a:solidFill>
                  <a:srgbClr val="142233"/>
                </a:solidFill>
                <a:latin typeface="Calibri"/>
              </a:rPr>
              <a:t>Один адрес, модель «Аудитор» в списке.</a:t>
            </a:r>
            <a:br/>
            <a:br/>
            <a:r>
              <a:t>Без «утверждаю» законы не качаются и не идут в заключение.</a:t>
            </a:r>
            <a:br/>
            <a:br/>
            <a:r>
              <a:t>Обзор, программа, гипотезы, мнение, заключение — файлы.</a:t>
            </a:r>
            <a:br/>
            <a:br/>
            <a:r>
              <a:t>«вопрос …» — с цитатой. Нет в библиотеке — отказ.</a:t>
            </a:r>
            <a:br/>
            <a:br/>
            <a:r>
              <a:t>Клиентский текст не уходит в интернет.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188720"/>
            <a:ext cx="5532120" cy="3794760"/>
          </a:xfrm>
          <a:prstGeom prst="roundRect">
            <a:avLst>
              <a:gd name="adj" fmla="val 8000"/>
            </a:avLst>
          </a:prstGeom>
          <a:solidFill>
            <a:srgbClr val="F6F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1325880"/>
            <a:ext cx="5166360" cy="36576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l"/>
            <a:r>
              <a:rPr sz="1600" b="1">
                <a:solidFill>
                  <a:srgbClr val="C4962C"/>
                </a:solidFill>
                <a:latin typeface="Calibri"/>
              </a:rPr>
              <a:t>Честная граница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1783080"/>
            <a:ext cx="5166360" cy="297180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l"/>
            <a:r>
              <a:rPr sz="1400" b="0">
                <a:solidFill>
                  <a:srgbClr val="142233"/>
                </a:solidFill>
                <a:latin typeface="Calibri"/>
              </a:rPr>
              <a:t>Закрыт контур «норма → гипотезы → черновик мнения → черновик заключения».</a:t>
            </a:r>
            <a:br/>
            <a:br/>
            <a:r>
              <a:t>Это черновики для правки. Не подписанный акт СВА и не суждение «за аудитора».</a:t>
            </a:r>
            <a:br/>
            <a:br/>
            <a:r>
              <a:t>Дальше по тому же агенту: факты клиента, тесты, рабочие бумаги.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1480" y="5120640"/>
            <a:ext cx="11338560" cy="1097280"/>
          </a:xfrm>
          <a:prstGeom prst="roundRect">
            <a:avLst>
              <a:gd name="adj" fmla="val 8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230368"/>
            <a:ext cx="10972800" cy="868680"/>
          </a:xfrm>
          <a:prstGeom prst="rect">
            <a:avLst/>
          </a:prstGeom>
          <a:noFill/>
        </p:spPr>
        <p:txBody>
          <a:bodyPr wrap="square" lIns="73152" rIns="73152" tIns="36576" bIns="36576"/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Автоматизация сильна тем, что знает, где остановиться.</a:t>
            </a:r>
            <a:br/>
            <a:r>
              <a:t>Откройте :3000 и начните с одной фразы.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Аудитор — коробочный ИИ-агент внутренней проверки</dc:title>
  <dc:subject>v0.0.1 · внутренний аудит банка РБ · on-prem</dc:subject>
  <dc:creator>Audit Tools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