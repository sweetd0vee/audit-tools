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2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19050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ВНУТРЕННИЙ АУДИТ  ·  БАНК РБ  ·  ОН-ПРЕМ  ·  OPEN WEBUI PIPE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Аудитор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D5E0EA"/>
                </a:solidFill>
                <a:latin typeface="Calibri"/>
                <a:ea typeface="Calibri"/>
                <a:cs typeface="Calibri"/>
              </a:rPr>
              <a:t>ИИ-агент сопровождения внутренней аудиторской проверки.
Не чат с моделью — цикл с руками, стоп-краном и системой записи.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297680"/>
            <a:ext cx="2651760" cy="1051560"/>
          </a:xfrm>
          <a:prstGeom prst="roundRect">
            <a:avLst>
              <a:gd name="adj" fmla="val 10000"/>
            </a:avLst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46304"/>
          <a:lstStyle/>
          <a:p>
            <a:pPr algn="l"/>
            <a:r>
              <a:rPr sz="14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Коробка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C5D4E0"/>
                </a:solidFill>
                <a:latin typeface="Calibri"/>
                <a:ea typeface="Calibri"/>
                <a:cs typeface="Calibri"/>
              </a:rPr>
              <a:t>compose up → :3000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4297680"/>
            <a:ext cx="2651760" cy="1051560"/>
          </a:xfrm>
          <a:prstGeom prst="roundRect">
            <a:avLst>
              <a:gd name="adj" fmla="val 10000"/>
            </a:avLst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46304"/>
          <a:lstStyle/>
          <a:p>
            <a:pPr algn="l"/>
            <a:r>
              <a:rPr sz="14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Pipe, не ReAct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C5D4E0"/>
                </a:solidFill>
                <a:latin typeface="Calibri"/>
                <a:ea typeface="Calibri"/>
                <a:cs typeface="Calibri"/>
              </a:rPr>
              <a:t>фаза выбирается кодом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297680"/>
            <a:ext cx="2651760" cy="1051560"/>
          </a:xfrm>
          <a:prstGeom prst="roundRect">
            <a:avLst>
              <a:gd name="adj" fmla="val 10000"/>
            </a:avLst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46304"/>
          <a:lstStyle/>
          <a:p>
            <a:pPr algn="l"/>
            <a:r>
              <a:rPr sz="14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HITL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C5D4E0"/>
                </a:solidFill>
                <a:latin typeface="Calibri"/>
                <a:ea typeface="Calibri"/>
                <a:cs typeface="Calibri"/>
              </a:rPr>
              <a:t>без «утверждаю» — нет скачивания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4297680"/>
            <a:ext cx="2651760" cy="1051560"/>
          </a:xfrm>
          <a:prstGeom prst="roundRect">
            <a:avLst>
              <a:gd name="adj" fmla="val 10000"/>
            </a:avLst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46304"/>
          <a:lstStyle/>
          <a:p>
            <a:pPr algn="l"/>
            <a:r>
              <a:rPr sz="14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On-prem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C5D4E0"/>
                </a:solidFill>
                <a:latin typeface="Calibri"/>
                <a:ea typeface="Calibri"/>
                <a:cs typeface="Calibri"/>
              </a:rPr>
              <a:t>данные не уходят в облако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B0C0"/>
                </a:solidFill>
                <a:latin typeface="Calibri"/>
                <a:ea typeface="Calibri"/>
                <a:cs typeface="Calibri"/>
              </a:rPr>
              <a:t>Аудитор  ·  коробочный ИИ-агент внутренней проверки  ·  конфиденциально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B0C0"/>
                </a:solidFill>
                <a:latin typeface="Calibri"/>
                <a:ea typeface="Calibri"/>
                <a:cs typeface="Calibri"/>
              </a:rPr>
              <a:t>1  / 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19050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20040"/>
            <a:ext cx="164592" cy="164592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СОДЕРЖАНИЕ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О чём эта презентация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5270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965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Зачем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4231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Боль аудитора, инвариант продукта, почему не «ещё один чат».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32588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5270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1965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История и функционал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4231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Сеанс проверки, команды, артефакты Word / Excel / zip.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32588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15270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1965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Open WebUI Pipe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4231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Теория Functions, реализация class Pipe, почему не native tools.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5760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8587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Алгоритм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7548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Маршрутизация фаз кодом, HITL, RAG с цитатой из утверждённого акта.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65760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8" y="38587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Коробка и контур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47548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On-prem, allowlist РБ, конфиденциальные данные, поставка.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365760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9328" y="38587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8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Эффект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8" y="47548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Что автоматизируется сегодня и где человек остаётся обязательным.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653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Аудитор  ·  коробочный ИИ-агент внутренней проверки  ·  конфиденциально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2  / 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19050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20040"/>
            <a:ext cx="164592" cy="164592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КОНТЕКСТ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Каждую проверку аудитор собирает заново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7452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517904"/>
            <a:ext cx="502920" cy="475488"/>
          </a:xfrm>
          <a:prstGeom prst="roundRect">
            <a:avLst>
              <a:gd name="adj" fmla="val 15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42646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Вспомнить НПА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556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ГК, НК, инструкции НБРБ, акты Минфина и МНС — по теме этой недели.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331720"/>
            <a:ext cx="7452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569464"/>
            <a:ext cx="502920" cy="475488"/>
          </a:xfrm>
          <a:prstGeom prst="roundRect">
            <a:avLst>
              <a:gd name="adj" fmla="val 15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47802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Найти редакцию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8072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pravo.by / nbrb.by, актуальный текст, не методичка с форума.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383280"/>
            <a:ext cx="7452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621024"/>
            <a:ext cx="502920" cy="475488"/>
          </a:xfrm>
          <a:prstGeom prst="roundRect">
            <a:avLst>
              <a:gd name="adj" fmla="val 15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52958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Вычитать кодекс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85876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Десятки страниц, чтобы вытащить 5–7 норм в рабочую бумагу.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34839"/>
            <a:ext cx="7452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4672583"/>
            <a:ext cx="502920" cy="475488"/>
          </a:xfrm>
          <a:prstGeom prst="roundRect">
            <a:avLst>
              <a:gd name="adj" fmla="val 15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581143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Спроектировать проверку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910327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Программа, гипотезы, критерии — вручную, каждый раз с нуля.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1280160"/>
            <a:ext cx="3566160" cy="4206240"/>
          </a:xfrm>
          <a:prstGeom prst="roundRect">
            <a:avLst>
              <a:gd name="adj" fmla="val 5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74320"/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РАЗРЫВ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Модель без документов
галлюцинирует статьи.</a:t>
            </a:r>
          </a:p>
          <a:p>
            <a:pPr algn="l">
              <a:spcBef>
                <a:spcPts val="160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Документы без модели
не масштабируются.</a:t>
            </a:r>
          </a:p>
          <a:p>
            <a:pPr algn="l">
              <a:spcBef>
                <a:spcPts val="2200"/>
              </a:spcBef>
              <a:spcAft>
                <a:spcPts val="0"/>
              </a:spcAft>
            </a:pPr>
            <a:r>
              <a:rPr sz="1300" b="0" i="0">
                <a:solidFill>
                  <a:srgbClr val="C5D4E0"/>
                </a:solidFill>
                <a:latin typeface="Calibri"/>
                <a:ea typeface="Calibri"/>
                <a:cs typeface="Calibri"/>
              </a:rPr>
              <a:t>Нужен RAG + доменный сервер: модель думает, НПА доказывают, аудитор подтверждает.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653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Аудитор  ·  коробочный ИИ-агент внутренней проверки  ·  конфиденциально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3  / 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19050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20040"/>
            <a:ext cx="164592" cy="164592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ПРОДУКТ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Коробка уровня Cursor — для внутренней проверки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430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Cursor победил не тем, что написал IDE с нуля. Он взял VS Code и сделал законченный продукт. Мы делаем то же со стеком Open WebUI + Ollama + SearXNG + тонкий Audit Tool Server.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11247120" cy="438912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6537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Cursor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86537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Мы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21992"/>
            <a:ext cx="11247120" cy="640080"/>
          </a:xfrm>
          <a:prstGeom prst="rect">
            <a:avLst/>
          </a:prstGeom>
          <a:solidFill>
            <a:srgbClr val="F6F1E6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6829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Поставил — открыл — пишешь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2386584"/>
            <a:ext cx="25400" cy="310896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36829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Поставил — открыл — ведёшь проверку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62072"/>
            <a:ext cx="11247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00837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VS Code не форкали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3026664"/>
            <a:ext cx="25400" cy="310896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00837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Open WebUI не форкаем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02152"/>
            <a:ext cx="11247120" cy="640080"/>
          </a:xfrm>
          <a:prstGeom prst="rect">
            <a:avLst/>
          </a:prstGeom>
          <a:solidFill>
            <a:srgbClr val="F6F1E6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64845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Цитата из этого репозитория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3666744"/>
            <a:ext cx="25400" cy="310896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64845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Цитата из этого утверждённого акта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142231"/>
            <a:ext cx="11247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288535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Один вход: окно редактора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4306823"/>
            <a:ext cx="25400" cy="310896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4288535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Один вход: чат на :3000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653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Аудитор  ·  коробочный ИИ-агент внутренней проверки  ·  конфиденциально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4  / 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2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19050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64592" cy="164592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96A"/>
                </a:solidFill>
                <a:latin typeface="Calibri"/>
                <a:ea typeface="Calibri"/>
                <a:cs typeface="Calibri"/>
              </a:rPr>
              <a:t>ИНВАРИАНТ ПРОДУКТА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Модель не ставит суждение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1155680" cy="1965960"/>
          </a:xfrm>
          <a:prstGeom prst="roundRect">
            <a:avLst>
              <a:gd name="adj" fmla="val 4000"/>
            </a:avLst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411480"/>
          <a:lstStyle/>
          <a:p>
            <a:pPr algn="l"/>
            <a:r>
              <a:rPr sz="2000" b="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«Модель ускоряет поиск нормы и черновик обзора. Она не ставит аудиторское суждение и не заменяет чтение первоисточника. Цитата проверяется по файлу в кейсе.»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56616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/>
          <a:lstStyle/>
          <a:p>
            <a:pPr algn="l"/>
            <a:r>
              <a:rPr sz="16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Ускоряет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C5D4E0"/>
                </a:solidFill>
                <a:latin typeface="Calibri"/>
                <a:ea typeface="Calibri"/>
                <a:cs typeface="Calibri"/>
              </a:rPr>
              <a:t>Библиотека НПА, саммари, программа, гипотезы, вопрос по статье.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56616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/>
          <a:lstStyle/>
          <a:p>
            <a:pPr algn="l"/>
            <a:r>
              <a:rPr sz="16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Не подписывает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C5D4E0"/>
                </a:solidFill>
                <a:latin typeface="Calibri"/>
                <a:ea typeface="Calibri"/>
                <a:cs typeface="Calibri"/>
              </a:rPr>
              <a:t>Нет вывода «нарушение / не нарушение». Нет автоподписи WP.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356616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/>
          <a:lstStyle/>
          <a:p>
            <a:pPr algn="l"/>
            <a:r>
              <a:rPr sz="16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Сверяется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C5D4E0"/>
                </a:solidFill>
                <a:latin typeface="Calibri"/>
                <a:ea typeface="Calibri"/>
                <a:cs typeface="Calibri"/>
              </a:rPr>
              <a:t>Блок «Откуда в базе знаний» + zip первоисточника в папке кейса.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B0C0"/>
                </a:solidFill>
                <a:latin typeface="Calibri"/>
                <a:ea typeface="Calibri"/>
                <a:cs typeface="Calibri"/>
              </a:rPr>
              <a:t>Аудитор  ·  коробочный ИИ-агент внутренней проверки  ·  конфиденциально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B0C0"/>
                </a:solidFill>
                <a:latin typeface="Calibri"/>
                <a:ea typeface="Calibri"/>
                <a:cs typeface="Calibri"/>
              </a:rPr>
              <a:t>5  / 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19050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20040"/>
            <a:ext cx="164592" cy="164592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ПОЛЬЗОВАТЕЛЬСКАЯ ИСТОРИЯ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Внутренний аудитор банка, проверка аренды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Тема недели: аренда коммерческой недвижимости — валютные расчёты, НДС, договоры с нерезидентами.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54864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/>
          <a:lstStyle/>
          <a:p>
            <a:pPr algn="l"/>
            <a:r>
              <a:rPr sz="1200" b="1" i="0">
                <a:solidFill>
                  <a:srgbClr val="B44A3A"/>
                </a:solidFill>
                <a:latin typeface="Calibri"/>
                <a:ea typeface="Calibri"/>
                <a:cs typeface="Calibri"/>
              </a:rPr>
              <a:t>РАНЬШЕ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▸  Вспоминаю акты по памяти и старым WP.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▸  Ищу редакции на pravo.by вкладками.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▸  Читаю ГК/НК целиком «на всякий случай».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▸  Выписываю нормы в черновик вручную.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▸  Программу проверки собираю с нуля.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▸  Гипотезы — в голове или в Excel с нуля.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▸  Риск: устаревшая редакция или чужая юрисдикция.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486400" cy="4526280"/>
          </a:xfrm>
          <a:prstGeom prst="roundRect">
            <a:avLst>
              <a:gd name="adj" fmla="val 5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/>
          <a:lstStyle/>
          <a:p>
            <a:pPr algn="l"/>
            <a:r>
              <a:rPr sz="12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ТЕПЕРЬ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▸  Одной фразой описываю проверку в чате.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▸  Модель предлагает 8–15 актов — я утверждаю номера.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▸  Официальные тексты качаются в папку кейса.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▸  саммари — Word на 6–10 стр. со ссылками.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▸  программа проверки — черновик СВА в Word.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▸  гипотезы — Excel-чеклист 8–10 пунктов.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▸  вопрос … — норма с цитатой из этой библиотеки.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Аудитор  ·  коробочный ИИ-агент внутренней проверки  ·  конфиденциально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6  / 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19050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20040"/>
            <a:ext cx="164592" cy="164592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СЦЕНАРИЙ СЕАНСА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Один чат = одна проверка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1325880"/>
            <a:ext cx="502920" cy="502920"/>
          </a:xfrm>
          <a:prstGeom prst="ellipse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965960"/>
            <a:ext cx="184708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1168"/>
          <a:lstStyle/>
          <a:p>
            <a:pPr algn="ctr"/>
            <a:r>
              <a:rPr sz="14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Описать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Проверка аренды…,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аренда, валюта, НДС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30552" y="2148840"/>
            <a:ext cx="182880" cy="146304"/>
          </a:xfrm>
          <a:prstGeom prst="rightArrow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71800" y="1325880"/>
            <a:ext cx="502920" cy="502920"/>
          </a:xfrm>
          <a:prstGeom prst="ellipse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1965960"/>
            <a:ext cx="184708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1168"/>
          <a:lstStyle/>
          <a:p>
            <a:pPr algn="ctr"/>
            <a:r>
              <a:rPr sz="14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Утвердить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утверждаю 1, 2, 4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плюс Инструкция 38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96512" y="2148840"/>
            <a:ext cx="182880" cy="146304"/>
          </a:xfrm>
          <a:prstGeom prst="rightArrow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37760" y="1325880"/>
            <a:ext cx="502920" cy="502920"/>
          </a:xfrm>
          <a:prstGeom prst="ellipse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965960"/>
            <a:ext cx="184708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1168"/>
          <a:lstStyle/>
          <a:p>
            <a:pPr algn="ctr"/>
            <a:r>
              <a:rPr sz="14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Скачать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pravo.by / nbrb.by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индекс по статьям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62471" y="2148840"/>
            <a:ext cx="182880" cy="146304"/>
          </a:xfrm>
          <a:prstGeom prst="rightArrow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03719" y="1325880"/>
            <a:ext cx="502920" cy="502920"/>
          </a:xfrm>
          <a:prstGeom prst="ellipse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39" y="1965960"/>
            <a:ext cx="184708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1168"/>
          <a:lstStyle/>
          <a:p>
            <a:pPr algn="ctr"/>
            <a:r>
              <a:rPr sz="14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Читать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саммари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программа проверки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028432" y="2148840"/>
            <a:ext cx="182880" cy="146304"/>
          </a:xfrm>
          <a:prstGeom prst="rightArrow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69680" y="1325880"/>
            <a:ext cx="502920" cy="502920"/>
          </a:xfrm>
          <a:prstGeom prst="ellipse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965960"/>
            <a:ext cx="184708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1168"/>
          <a:lstStyle/>
          <a:p>
            <a:pPr algn="ctr"/>
            <a:r>
              <a:rPr sz="14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Планировать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гипотезы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Excel-чеклист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994392" y="2148840"/>
            <a:ext cx="182880" cy="146304"/>
          </a:xfrm>
          <a:prstGeom prst="rightArrow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835640" y="1325880"/>
            <a:ext cx="502920" cy="502920"/>
          </a:xfrm>
          <a:prstGeom prst="ellipse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95560" y="1965960"/>
            <a:ext cx="184708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1168"/>
          <a:lstStyle/>
          <a:p>
            <a:pPr algn="ctr"/>
            <a:r>
              <a:rPr sz="14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Спросить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вопрос Какой срок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регистрации аренды?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526280"/>
            <a:ext cx="112471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l"/>
            <a:r>
              <a:rPr sz="14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Правила сеанса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4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Модель в шапке — «Аудитор» (Pipe), не qwen3.8:27b с иконкой ol. Новая тема — новый чат. Без слова «вопрос» ответ идёт из знаний модели, не из библиотеки. Пока нет «утверждаю» — ничего не скачивается.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Аудитор  ·  коробочный ИИ-агент внутренней проверки  ·  конфиденциально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7  / 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19050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20040"/>
            <a:ext cx="164592" cy="164592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ФУНКЦИОНАЛ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Что умеет агент сегодня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2816352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109728" cy="2194560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481328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Библиотека НПА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148840"/>
            <a:ext cx="2423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Propose → HITL → download с allowlist РБ. extra_titles, ручной URL, known_sources.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280160"/>
            <a:ext cx="2816352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0128" y="1280160"/>
            <a:ext cx="109728" cy="2194560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481328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Саммари Word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148840"/>
            <a:ext cx="2423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Карточка по каждому акту + обзор проверки + приложение фрагментов [n].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1280160"/>
            <a:ext cx="2816352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54496" y="1280160"/>
            <a:ext cx="109728" cy="2194560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1481328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Саммари 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148840"/>
            <a:ext cx="2423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Конспект «из головы» модели — не цитата. Явно отделён от базы.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98864" y="1280160"/>
            <a:ext cx="2816352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98864" y="1280160"/>
            <a:ext cx="109728" cy="2194560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54896" y="1481328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Программа проверки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54896" y="2148840"/>
            <a:ext cx="2423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Черновик СВА: цель, риски, процедуры, критерии по праву РБ.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657600"/>
            <a:ext cx="2816352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657600"/>
            <a:ext cx="109728" cy="2194560"/>
          </a:xfrm>
          <a:prstGeom prst="rect">
            <a:avLst/>
          </a:prstGeom>
          <a:solidFill>
            <a:srgbClr val="2F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3858768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Гипотезы Excel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4526280"/>
            <a:ext cx="2423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8–10 гипотез для проверки. Опирается на саммари / программу / НПА.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10128" y="3657600"/>
            <a:ext cx="2816352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10128" y="3657600"/>
            <a:ext cx="109728" cy="2194560"/>
          </a:xfrm>
          <a:prstGeom prst="rect">
            <a:avLst/>
          </a:prstGeom>
          <a:solidFill>
            <a:srgbClr val="2F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0" y="3858768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Вопрос по базе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526280"/>
            <a:ext cx="2423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Префикс «вопрос …» → RAG + блок «Откуда в базе знаний».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54496" y="3657600"/>
            <a:ext cx="2816352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54496" y="3657600"/>
            <a:ext cx="109728" cy="2194560"/>
          </a:xfrm>
          <a:prstGeom prst="rect">
            <a:avLst/>
          </a:prstGeom>
          <a:solidFill>
            <a:srgbClr val="2F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3858768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Обычный диалог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4526280"/>
            <a:ext cx="2423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Без префикса — POST /chat. Без цитат. Не тащить в WP как норму.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98864" y="3657600"/>
            <a:ext cx="2816352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98864" y="3657600"/>
            <a:ext cx="109728" cy="2194560"/>
          </a:xfrm>
          <a:prstGeom prst="rect">
            <a:avLst/>
          </a:prstGeom>
          <a:solidFill>
            <a:srgbClr val="2F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54896" y="3858768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Система записи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54896" y="4526280"/>
            <a:ext cx="2423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Кейс на диске: статусы, манифест, sha256, zip первоисточников.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5653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Аудитор  ·  коробочный ИИ-агент внутренней проверки  ·  конфиденциально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8  / 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19050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20040"/>
            <a:ext cx="164592" cy="164592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ВЫХОДЫ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Артефакты, которые аудитор уносит из чата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" y="1481328"/>
            <a:ext cx="868680" cy="347472"/>
          </a:xfrm>
          <a:prstGeom prst="roundRect">
            <a:avLst>
              <a:gd name="adj" fmla="val 30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.zip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4996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Библиотека НПА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0116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Первоисточники HTML/PDF, которые вы утвердили — не «то, что модель вспомнила».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280160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98848" y="1481328"/>
            <a:ext cx="868680" cy="347472"/>
          </a:xfrm>
          <a:prstGeom prst="roundRect">
            <a:avLst>
              <a:gd name="adj" fmla="val 30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.docx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4996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Обзор актов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0116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Нормативный контур проверки, карточки существенного, ссылки на статьи.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280160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85048" y="1481328"/>
            <a:ext cx="868680" cy="347472"/>
          </a:xfrm>
          <a:prstGeom prst="roundRect">
            <a:avLst>
              <a:gd name="adj" fmla="val 30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.docx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14996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Программа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0116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Черновик программы аудиторской проверки банка РБ. Не подпись руководителя СВА.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611880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" y="3813048"/>
            <a:ext cx="868680" cy="347472"/>
          </a:xfrm>
          <a:prstGeom prst="roundRect">
            <a:avLst>
              <a:gd name="adj" fmla="val 30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.xlsx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8313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Гипотезы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43434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Чеклист 8–10 гипотез: что смотреть, на что опираться, статус для HITL.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611880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98848" y="3813048"/>
            <a:ext cx="868680" cy="347472"/>
          </a:xfrm>
          <a:prstGeom prst="roundRect">
            <a:avLst>
              <a:gd name="adj" fmla="val 30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.docx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38313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43434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Конспект из знаний модели. Полезно как ориентир, не как норма.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3611880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85048" y="3813048"/>
            <a:ext cx="868680" cy="347472"/>
          </a:xfrm>
          <a:prstGeom prst="roundRect">
            <a:avLst>
              <a:gd name="adj" fmla="val 30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чат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38313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Цитата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5048" y="43434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Ответ на «вопрос …» + блок источников. Сверяется с файлом в zip.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653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Аудитор  ·  коробочный ИИ-агент внутренней проверки  ·  конфиденциально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9  / 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19050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20040"/>
            <a:ext cx="164592" cy="164592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АРХИТЕКТУРА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Сборка готового, не форк и не свой чат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61872"/>
            <a:ext cx="11247120" cy="1024128"/>
          </a:xfrm>
          <a:prstGeom prst="roundRect">
            <a:avLst>
              <a:gd name="adj" fmla="val 4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46304"/>
          <a:lstStyle/>
          <a:p>
            <a:pPr algn="l"/>
            <a:r>
              <a:rPr sz="12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ПОВЕРХНОСТЬ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 WebUI — чат, auth, файлы, статусы. Свой React не пишем.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04872"/>
            <a:ext cx="11247120" cy="1024128"/>
          </a:xfrm>
          <a:prstGeom prst="roundRect">
            <a:avLst>
              <a:gd name="adj" fmla="val 4000"/>
            </a:avLst>
          </a:prstGeom>
          <a:solidFill>
            <a:srgbClr val="1E5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46304"/>
          <a:lstStyle/>
          <a:p>
            <a:pPr algn="l"/>
            <a:r>
              <a:rPr sz="1200" b="1" i="0">
                <a:solidFill>
                  <a:srgbClr val="E8C96A"/>
                </a:solidFill>
                <a:latin typeface="Calibri"/>
                <a:ea typeface="Calibri"/>
                <a:cs typeface="Calibri"/>
              </a:rPr>
              <a:t>КЛЕЙ АГЕНТА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Function Pipe «Аудитор». Фазы кодом. Без бизнес-логики внутри.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47872"/>
            <a:ext cx="11247120" cy="1024128"/>
          </a:xfrm>
          <a:prstGeom prst="roundRect">
            <a:avLst>
              <a:gd name="adj" fmla="val 4000"/>
            </a:avLst>
          </a:prstGeom>
          <a:solidFill>
            <a:srgbClr val="3A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46304"/>
          <a:lstStyle/>
          <a:p>
            <a:pPr algn="l"/>
            <a:r>
              <a:rPr sz="12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ЯДРО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Audit Tool Server (FastAPI): кейс, HITL, добыча НПА, ingest, RAG, Word/Excel.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690872"/>
            <a:ext cx="11247120" cy="1024128"/>
          </a:xfrm>
          <a:prstGeom prst="roundRect">
            <a:avLst>
              <a:gd name="adj" fmla="val 4000"/>
            </a:avLst>
          </a:prstGeom>
          <a:solidFill>
            <a:srgbClr val="3D4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46304"/>
          <a:lstStyle/>
          <a:p>
            <a:pPr algn="l"/>
            <a:r>
              <a:rPr sz="1200" b="1" i="0">
                <a:solidFill>
                  <a:srgbClr val="E8C96A"/>
                </a:solidFill>
                <a:latin typeface="Calibri"/>
                <a:ea typeface="Calibri"/>
                <a:cs typeface="Calibri"/>
              </a:rPr>
              <a:t>ИНФРА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Ollama (LLM + embed) · SearXNG (allowlist) · диск кейса. DuckDB — план.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Аудитор  ·  коробочный ИИ-агент внутренней проверки  ·  конфиденциально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10  / 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19050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20040"/>
            <a:ext cx="164592" cy="164592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ТЕОРИЯ  ·  OPEN WEBUI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Три способа «сделать агента» — выбран Pipe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3749039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3749039" cy="109728"/>
          </a:xfrm>
          <a:prstGeom prst="rect">
            <a:avLst/>
          </a:prstGeom>
          <a:solidFill>
            <a:srgbClr val="B4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Chat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116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Обычный Qwen в списке (иконка ol).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9748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Свободный диалог. Нет кейса, нет стоп-крана, нет download.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349240"/>
            <a:ext cx="2194560" cy="411480"/>
          </a:xfrm>
          <a:prstGeom prst="roundRect">
            <a:avLst>
              <a:gd name="adj" fmla="val 30000"/>
            </a:avLst>
          </a:prstGeom>
          <a:solidFill>
            <a:srgbClr val="B4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Не продукт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280160"/>
            <a:ext cx="3749039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280160"/>
            <a:ext cx="3749039" cy="109728"/>
          </a:xfrm>
          <a:prstGeom prst="rect">
            <a:avLst/>
          </a:prstGeom>
          <a:solidFill>
            <a:srgbClr val="6B7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554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Tools + Native FC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0116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Модель сама вызывает HTTP-tools.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69748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Локальная 27B плохо держит function calling: может скачать без «утверждаю» или не вызвать tool вовсе.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5349240"/>
            <a:ext cx="2194560" cy="411480"/>
          </a:xfrm>
          <a:prstGeom prst="roundRect">
            <a:avLst>
              <a:gd name="adj" fmla="val 30000"/>
            </a:avLst>
          </a:prstGeom>
          <a:solidFill>
            <a:srgbClr val="6B7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Запасной путь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280160"/>
            <a:ext cx="3749039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280160"/>
            <a:ext cx="3749039" cy="109728"/>
          </a:xfrm>
          <a:prstGeom prst="rect">
            <a:avLst/>
          </a:prstGeom>
          <a:solidFill>
            <a:srgbClr val="2F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554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Function Pipe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0116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Python class Pipe в Admin → Functions.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69748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Сообщение входит в pipe(). Фазу выбирает код. Модель вызывается точечно. HITL железобетонный.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5349240"/>
            <a:ext cx="2194560" cy="411480"/>
          </a:xfrm>
          <a:prstGeom prst="roundRect">
            <a:avLst>
              <a:gd name="adj" fmla="val 30000"/>
            </a:avLst>
          </a:prstGeom>
          <a:solidFill>
            <a:srgbClr val="2F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Продуктовый путь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Аудитор  ·  коробочный ИИ-агент внутренней проверки  ·  конфиденциально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11  / 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19050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20040"/>
            <a:ext cx="164592" cy="164592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РЕАЛИЗАЦИЯ  ·  AUDIT_AGENT.PY V0.2.7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Как устроен Function Pipe «Аудитор»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61872"/>
            <a:ext cx="576072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l"/>
            <a:r>
              <a:rPr sz="15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Контракт Open WebUI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3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●  class Pipe — появляется в списке как модель «Аудитор».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3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●  Valves — параметры без правки кода: AUDIT_API, PUBLIC_API, таймауты, ключ Knowledge.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3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●  async pipe(body, __user__, __event_emitter__) — единственная точка входа.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3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●  __event_emitter__ рисует статусы в чате («Скачиваю…»), это не ответ модели.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3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●  Бизнес-логики в Pipe нет: только маршрут + HTTP на FastAPI + формат ответа.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3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●  Память проверки: скрытая метка &lt;!--audit-case:id--&gt; в истории чата.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261872"/>
            <a:ext cx="5394960" cy="4846320"/>
          </a:xfrm>
          <a:prstGeom prst="roundRect">
            <a:avLst>
              <a:gd name="adj" fmla="val 4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01168"/>
          <a:lstStyle/>
          <a:p>
            <a:pPr algn="l"/>
            <a:r>
              <a:rPr sz="15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Valves (из коробки)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300" b="1" i="0">
                <a:solidFill>
                  <a:srgbClr val="E8C96A"/>
                </a:solidFill>
                <a:latin typeface="Calibri"/>
                <a:ea typeface="Calibri"/>
                <a:cs typeface="Calibri"/>
              </a:rPr>
              <a:t>AUDIT_API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http://backend:8100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300" b="1" i="0">
                <a:solidFill>
                  <a:srgbClr val="E8C96A"/>
                </a:solidFill>
                <a:latin typeface="Calibri"/>
                <a:ea typeface="Calibri"/>
                <a:cs typeface="Calibri"/>
              </a:rPr>
              <a:t>PUBLIC_API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http://localhost:8100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300" b="1" i="0">
                <a:solidFill>
                  <a:srgbClr val="E8C96A"/>
                </a:solidFill>
                <a:latin typeface="Calibri"/>
                <a:ea typeface="Calibri"/>
                <a:cs typeface="Calibri"/>
              </a:rPr>
              <a:t>TIMEOUT_SEC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600  — propose / download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300" b="1" i="0">
                <a:solidFill>
                  <a:srgbClr val="E8C96A"/>
                </a:solidFill>
                <a:latin typeface="Calibri"/>
                <a:ea typeface="Calibri"/>
                <a:cs typeface="Calibri"/>
              </a:rPr>
              <a:t>BRIEF_TIMEOUT_SEC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1800 — Word / Excel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300" b="1" i="0">
                <a:solidFill>
                  <a:srgbClr val="E8C96A"/>
                </a:solidFill>
                <a:latin typeface="Calibri"/>
                <a:ea typeface="Calibri"/>
                <a:cs typeface="Calibri"/>
              </a:rPr>
              <a:t>OPENWEBUI_API_KEY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пусто = индекс сервера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Аудитор  ·  коробочный ИИ-агент внутренней проверки  ·  конфиденциально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12  / 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19050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20040"/>
            <a:ext cx="164592" cy="164592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АЛГОРИТМ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Фаза выбирается кодом. Первое совпадение побеждает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Это не свободный ReAct. Локальная 27B не решает, какой tool вызвать.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508760"/>
            <a:ext cx="2816352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2064" y="1673352"/>
            <a:ext cx="384048" cy="347472"/>
          </a:xfrm>
          <a:prstGeom prst="roundRect">
            <a:avLst>
              <a:gd name="adj" fmla="val 20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6733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помощь /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14884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шпаргалка, без LLM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0128" y="1508760"/>
            <a:ext cx="2816352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56432" y="1673352"/>
            <a:ext cx="384048" cy="347472"/>
          </a:xfrm>
          <a:prstGeom prst="roundRect">
            <a:avLst>
              <a:gd name="adj" fmla="val 20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16733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вопрос … / /ask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214884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RAG по индексу кейса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1508760"/>
            <a:ext cx="2816352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1673352"/>
            <a:ext cx="384048" cy="347472"/>
          </a:xfrm>
          <a:prstGeom prst="roundRect">
            <a:avLst>
              <a:gd name="adj" fmla="val 20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16733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утверждаю гипотезы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14884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HITL (задел под мнение)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98864" y="1508760"/>
            <a:ext cx="2816352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45168" y="1673352"/>
            <a:ext cx="384048" cy="347472"/>
          </a:xfrm>
          <a:prstGeom prst="roundRect">
            <a:avLst>
              <a:gd name="adj" fmla="val 20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0656" y="16733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мнение / заключение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214884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Word, пока заглушка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063240"/>
            <a:ext cx="2816352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12064" y="3227832"/>
            <a:ext cx="384048" cy="347472"/>
          </a:xfrm>
          <a:prstGeom prst="roundRect">
            <a:avLst>
              <a:gd name="adj" fmla="val 20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32278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программа проверки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" y="370332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черновик СВА → .docx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10128" y="3063240"/>
            <a:ext cx="2816352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56432" y="3227832"/>
            <a:ext cx="384048" cy="347472"/>
          </a:xfrm>
          <a:prstGeom prst="roundRect">
            <a:avLst>
              <a:gd name="adj" fmla="val 20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32278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саммари total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56432" y="370332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конспект из знаний модели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54496" y="3063240"/>
            <a:ext cx="2816352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0" y="3227832"/>
            <a:ext cx="384048" cy="347472"/>
          </a:xfrm>
          <a:prstGeom prst="roundRect">
            <a:avLst>
              <a:gd name="adj" fmla="val 20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76288" y="32278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гипотезы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70332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Excel-чеклист 8–10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98864" y="3063240"/>
            <a:ext cx="2816352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345168" y="3227832"/>
            <a:ext cx="384048" cy="347472"/>
          </a:xfrm>
          <a:prstGeom prst="roundRect">
            <a:avLst>
              <a:gd name="adj" fmla="val 20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0656" y="32278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саммари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5168" y="370332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карточки актов → .docx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4617720"/>
            <a:ext cx="2816352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12064" y="4782312"/>
            <a:ext cx="384048" cy="347472"/>
          </a:xfrm>
          <a:prstGeom prst="roundRect">
            <a:avLst>
              <a:gd name="adj" fmla="val 20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" y="47823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утверждаю / скачай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" y="525780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select + download, без LLM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10128" y="4617720"/>
            <a:ext cx="2816352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456432" y="4782312"/>
            <a:ext cx="384048" cy="347472"/>
          </a:xfrm>
          <a:prstGeom prst="roundRect">
            <a:avLst>
              <a:gd name="adj" fmla="val 20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47823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документы / статус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56432" y="525780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чтение кейса, без LLM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54496" y="4617720"/>
            <a:ext cx="2816352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400800" y="4782312"/>
            <a:ext cx="384048" cy="347472"/>
          </a:xfrm>
          <a:prstGeom prst="roundRect">
            <a:avLst>
              <a:gd name="adj" fmla="val 20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47823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похож на проверку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525780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create + propose, если нет кейса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98864" y="4617720"/>
            <a:ext cx="2816352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345168" y="4782312"/>
            <a:ext cx="384048" cy="347472"/>
          </a:xfrm>
          <a:prstGeom prst="roundRect">
            <a:avLst>
              <a:gd name="adj" fmla="val 20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20656" y="47823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иначе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45168" y="525780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обычный чат POST /chat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5653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Аудитор  ·  коробочный ИИ-агент внутренней проверки  ·  конфиденциально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13  / 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19050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20040"/>
            <a:ext cx="164592" cy="164592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HUMAN-IN-THE-LOOP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Стоп-кран: модель предлагает, аудитор решает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2148840" cy="1874519"/>
          </a:xfrm>
          <a:prstGeom prst="roundRect">
            <a:avLst>
              <a:gd name="adj" fmla="val 8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6032"/>
          <a:lstStyle/>
          <a:p>
            <a:pPr algn="ctr"/>
            <a:r>
              <a:rPr sz="1600" b="1" i="0">
                <a:solidFill>
                  <a:srgbClr val="E8C96A"/>
                </a:solidFill>
                <a:latin typeface="Calibri"/>
                <a:ea typeface="Calibri"/>
                <a:cs typeface="Calibri"/>
              </a:rPr>
              <a:t>LLM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JSON со списком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8–15 актов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41448" y="2148840"/>
            <a:ext cx="219456" cy="164592"/>
          </a:xfrm>
          <a:prstGeom prst="rightArrow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97480" y="1371600"/>
            <a:ext cx="2148840" cy="1874519"/>
          </a:xfrm>
          <a:prstGeom prst="roundRect">
            <a:avLst>
              <a:gd name="adj" fmla="val 8000"/>
            </a:avLst>
          </a:prstGeom>
          <a:solidFill>
            <a:srgbClr val="2F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6032"/>
          <a:lstStyle/>
          <a:p>
            <a:pPr algn="ctr"/>
            <a:r>
              <a:rPr sz="1600" b="1" i="0">
                <a:solidFill>
                  <a:srgbClr val="E8C96A"/>
                </a:solidFill>
                <a:latin typeface="Calibri"/>
                <a:ea typeface="Calibri"/>
                <a:cs typeface="Calibri"/>
              </a:rPr>
              <a:t>Pipe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Нумерует, просит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«утверждаю»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73168" y="2148840"/>
            <a:ext cx="219456" cy="164592"/>
          </a:xfrm>
          <a:prstGeom prst="rightArrow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0" y="1371600"/>
            <a:ext cx="2148840" cy="1874519"/>
          </a:xfrm>
          <a:prstGeom prst="roundRect">
            <a:avLst>
              <a:gd name="adj" fmla="val 8000"/>
            </a:avLst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6032"/>
          <a:lstStyle/>
          <a:p>
            <a:pPr algn="ctr"/>
            <a:r>
              <a:rPr sz="1600" b="1" i="0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Человек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Номера, плюс,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URL, отказ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104887" y="2148840"/>
            <a:ext cx="219456" cy="164592"/>
          </a:xfrm>
          <a:prstGeom prst="rightArrow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60919" y="1371600"/>
            <a:ext cx="2148840" cy="1874519"/>
          </a:xfrm>
          <a:prstGeom prst="roundRect">
            <a:avLst>
              <a:gd name="adj" fmla="val 8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6032"/>
          <a:lstStyle/>
          <a:p>
            <a:pPr algn="ctr"/>
            <a:r>
              <a:rPr sz="1600" b="1" i="0">
                <a:solidFill>
                  <a:srgbClr val="E8C96A"/>
                </a:solidFill>
                <a:latin typeface="Calibri"/>
                <a:ea typeface="Calibri"/>
                <a:cs typeface="Calibri"/>
              </a:rPr>
              <a:t>Сервер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select → download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только после HITL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436608" y="2148840"/>
            <a:ext cx="219456" cy="164592"/>
          </a:xfrm>
          <a:prstGeom prst="rightArrow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92640" y="1371600"/>
            <a:ext cx="2148840" cy="1874519"/>
          </a:xfrm>
          <a:prstGeom prst="roundRect">
            <a:avLst>
              <a:gd name="adj" fmla="val 8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6032"/>
          <a:lstStyle/>
          <a:p>
            <a:pPr algn="ctr"/>
            <a:r>
              <a:rPr sz="1600" b="1" i="0">
                <a:solidFill>
                  <a:srgbClr val="E8C96A"/>
                </a:solidFill>
                <a:latin typeface="Calibri"/>
                <a:ea typeface="Calibri"/>
                <a:cs typeface="Calibri"/>
              </a:rPr>
              <a:t>Индекс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Статьи, embeddings,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библиотека кейса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20440"/>
            <a:ext cx="3749039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/>
          <a:lstStyle/>
          <a:p>
            <a:pPr algn="l"/>
            <a:r>
              <a:rPr sz="14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Где модель молчит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утверждаю, плюс, скачай, документы, статус, помощь — чистый код. Галлюцинация статьи на этих шагах невозможна.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3520440"/>
            <a:ext cx="3749039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/>
          <a:lstStyle/>
          <a:p>
            <a:pPr algn="l"/>
            <a:r>
              <a:rPr sz="14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Где модель говорит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propose (JSON), саммари, total, программа, гипотезы, вопрос по фрагментам, обычный чат.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520440"/>
            <a:ext cx="3749039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/>
          <a:lstStyle/>
          <a:p>
            <a:pPr algn="l"/>
            <a:r>
              <a:rPr sz="14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Политика download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URL: ручная ссылка → known_sources → SearXNG. Домены только РБ. Клиентский текст в поиск не идёт.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653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Аудитор  ·  коробочный ИИ-агент внутренней проверки  ·  конфиденциально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14  / 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19050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20040"/>
            <a:ext cx="164592" cy="164592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КАЧЕСТВО ОТВЕТА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Цитата из утверждённого акта, не из памяти модели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61872"/>
            <a:ext cx="580644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l"/>
            <a:r>
              <a:rPr sz="15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Конвейер «вопрос …»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3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1.  Только если сообщение начинается с «вопрос» — иначе это не норма.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3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2.  Эмбеддинг вопроса той же моделью, что индекс: qwen3-embedding.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3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3.  Hybrid: BM25 + пересечение слов + cosine → RRF → MMR. Top-k = 16.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3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4.  Промпт: только фрагменты. Нет во фрагментах — отказ. Не РФ / IFRS.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3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5.  Pipe дописывает блок «Откуда в базе знаний» даже если модель гладкая.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3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6.  Веб-поиска на этом шаге нет. SearXNG — только добыча в библиотеку.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61872"/>
            <a:ext cx="5349240" cy="2240280"/>
          </a:xfrm>
          <a:prstGeom prst="roundRect">
            <a:avLst>
              <a:gd name="adj" fmla="val 5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/>
          <a:lstStyle/>
          <a:p>
            <a:pPr algn="l"/>
            <a:r>
              <a:rPr sz="16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Норма  ≠  факт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Норма — НПА в knowledge_*. Ответ: RAG + цитата статьи.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Факт — выгрузки клиента. Ответ: SQL / tools (план). Не класть Excel в Knowledge.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703320"/>
            <a:ext cx="5349240" cy="2404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/>
          <a:lstStyle/>
          <a:p>
            <a:pPr algn="l"/>
            <a:r>
              <a:rPr sz="14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Нарезка под юридический текст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Чанкер по «Статья N», не дешёвый сплиттер по символам. Окно модели 32k. Embedding — не MiniLM. Температура 0.1–0.2.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Источник истины для аудитора — блок цитат и файл в zip, не красноречие абзаца.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Аудитор  ·  коробочный ИИ-агент внутренней проверки  ·  конфиденциально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15  / 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19050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20040"/>
            <a:ext cx="164592" cy="164592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КОНФИДЕНЦИАЛЬНОСТЬ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Работа с чувствительными данными — by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37490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F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26464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On-prem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96596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Ollama на хосте банка. qwen3.8:27b не уходит в OpenAI / облако. Формулировки проверки остаются в контуре.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280160"/>
            <a:ext cx="37490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53128" y="148132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F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426464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Allowlist РБ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196596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pravo.by, nbrb.by, minfin, nalog, government, president. Defense in depth: SearXNG и сервер.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280160"/>
            <a:ext cx="37490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39328" y="148132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F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426464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Клиент ≠ поиск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196596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Выгрузки, договоры, суммы в SearXNG не передаются. Веб-поиск в чате выключен.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611880"/>
            <a:ext cx="37490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38130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F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758184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Две вселенные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29768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Норма и факт не смешиваются в одной Knowledge. Скрепка с Excel клиента — запрещённый путь.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3611880"/>
            <a:ext cx="37490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53128" y="38130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F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3758184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Air-gap готовность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429768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Образы и веса моделей едут файлами, не качаются с Hugging Face в банке.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3611880"/>
            <a:ext cx="37490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39328" y="38130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F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3758184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Аудит действий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8" y="429768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case.json, manifest (URL, sha256), статусы created → ready. Trail вызовов — в плане.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653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Аудитор  ·  коробочный ИИ-агент внутренней проверки  ·  конфиденциально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16  / 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19050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20040"/>
            <a:ext cx="164592" cy="164592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ПОСТАВКА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Коробочное решение, не стенд разработчика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Если аудитор должен выбрать embedding, включить hybrid и привязать Knowledge — это не продукт.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47120" cy="1051560"/>
          </a:xfrm>
          <a:prstGeom prst="roundRect">
            <a:avLst>
              <a:gd name="adj" fmla="val 5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docker compose up -d --build     →     http://localhost:3000     →     модель «Аудитор»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880360"/>
            <a:ext cx="3749039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/>
          <a:lstStyle/>
          <a:p>
            <a:pPr algn="l"/>
            <a:r>
              <a:rPr sz="15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Уже в коробке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·  Open WebUI + backend + SearXNG в одном compose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·  Ollama на хосте: чат 27B + embedding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·  RAG-env из compose: hybrid, qwen embedding, top-k 16, num_ctx 32k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·  Веб-поиск выключен, имя продукта — «Аудитор»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·  Pipe — один Python-файл, без форка Open WebUI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880360"/>
            <a:ext cx="3749039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/>
          <a:lstStyle/>
          <a:p>
            <a:pPr algn="l"/>
            <a:r>
              <a:rPr sz="15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Мнение из коробки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·  Промпты методолога ВА банка РБ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·  Запрет РФ / ЕС / IFRS, если их нет во фрагментах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·  Температура 0.1–0.2 на сервере, не слайдер чата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·  Шаблон RAG: нет во фрагментах — отказ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·  HITL на список НПА железный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2880360"/>
            <a:ext cx="3749039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/>
          <a:lstStyle/>
          <a:p>
            <a:pPr algn="l"/>
            <a:r>
              <a:rPr sz="15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Что это даёт банку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·  Один URL для аудитора, без Vite и Swagger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·  Свой код только там, где рынка нет: кейс, домен РБ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·  Можно поставить на машину / контур СВА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·  Не SaaS с клиентскими файлами во внешней LLM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·  Масштаб: следующий аудитор открывает тот же чат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Аудитор  ·  коробочный ИИ-агент внутренней проверки  ·  конфиденциально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17  / 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19050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20040"/>
            <a:ext cx="164592" cy="164592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ЭФФЕКТ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Почему это автоматизация другого уровня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3749039" cy="2148840"/>
          </a:xfrm>
          <a:prstGeom prst="roundRect">
            <a:avLst>
              <a:gd name="adj" fmla="val 5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Часы → минуты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Сбор нормативной базы проверки: не вкладки pravo.by, а утверждённый список и zip.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280160"/>
            <a:ext cx="3749039" cy="2148840"/>
          </a:xfrm>
          <a:prstGeom prst="roundRect">
            <a:avLst>
              <a:gd name="adj" fmla="val 5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508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Кодекс → карточка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05740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Саммари даёт существенное для этой темы, а не дамп статей по порядку.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280160"/>
            <a:ext cx="3749039" cy="2148840"/>
          </a:xfrm>
          <a:prstGeom prst="roundRect">
            <a:avLst>
              <a:gd name="adj" fmla="val 5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508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Память → цитата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05740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Ответ на норму опирается на файл кейса. Pipe сам дописывает источник.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611880"/>
            <a:ext cx="3749039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840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Хаос → кейс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38912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Система записи: что утвердили, что скачали, какой URL, какой индекс.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611880"/>
            <a:ext cx="3749039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840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Чат → артефакт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38912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Выход — Word и Excel, которые живут в рабочем процессе СВА, не в истории GPT.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611880"/>
            <a:ext cx="3749039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3840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2233"/>
                </a:solidFill>
                <a:latin typeface="Calibri"/>
                <a:ea typeface="Calibri"/>
                <a:cs typeface="Calibri"/>
              </a:rPr>
              <a:t>Скрипт → агент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38912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F61"/>
                </a:solidFill>
                <a:latin typeface="Calibri"/>
                <a:ea typeface="Calibri"/>
                <a:cs typeface="Calibri"/>
              </a:rPr>
              <a:t>Память, руки, мозг, стоп-кран, статусы. Не one-shot промпт.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Аудитор  ·  коробочный ИИ-агент внутренней проверки  ·  конфиденциально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C8D"/>
                </a:solidFill>
                <a:latin typeface="Calibri"/>
                <a:ea typeface="Calibri"/>
                <a:cs typeface="Calibri"/>
              </a:rPr>
              <a:t>18  / 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2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19050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64592" cy="164592"/>
          </a:xfrm>
          <a:prstGeom prst="rect">
            <a:avLst/>
          </a:prstGeom>
          <a:solidFill>
            <a:srgbClr val="C4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96A"/>
                </a:solidFill>
                <a:latin typeface="Calibri"/>
                <a:ea typeface="Calibri"/>
                <a:cs typeface="Calibri"/>
              </a:rPr>
              <a:t>ИТОГ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Агент, которому можно доверить контур проверки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623560" cy="4800600"/>
          </a:xfrm>
          <a:prstGeom prst="roundRect">
            <a:avLst>
              <a:gd name="adj" fmla="val 4000"/>
            </a:avLst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/>
          <a:lstStyle/>
          <a:p>
            <a:pPr algn="l"/>
            <a:r>
              <a:rPr sz="15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Что уже можно показать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▸  Один URL, модель «Аудитор» в списке.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▸  Список НПА нельзя скачать без «утверждаю».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▸  саммари / программа / гипотезы — файлы, не простыня в чате.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▸  вопрос … — с цитатой; нет в библиотеке — отказ.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▸  Клиентский текст не уходит в интернет.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▸  Свой фронт аудитору не нужен.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80160"/>
            <a:ext cx="5440680" cy="4800600"/>
          </a:xfrm>
          <a:prstGeom prst="roundRect">
            <a:avLst>
              <a:gd name="adj" fmla="val 4000"/>
            </a:avLst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/>
          <a:lstStyle/>
          <a:p>
            <a:pPr algn="l"/>
            <a:r>
              <a:rPr sz="1500" b="1" i="0">
                <a:solidFill>
                  <a:srgbClr val="C4962C"/>
                </a:solidFill>
                <a:latin typeface="Calibri"/>
                <a:ea typeface="Calibri"/>
                <a:cs typeface="Calibri"/>
              </a:rPr>
              <a:t>Честная граница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Закрыт контур «собрать норму → сформулировать гипотезы».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Дальше по тому же Pipe: подтверждение гипотез → черновики мнения и заключения. Затем — факты клиента, тесты, WP.</a:t>
            </a:r>
          </a:p>
          <a:p>
            <a:pPr algn="l">
              <a:spcBef>
                <a:spcPts val="1800"/>
              </a:spcBef>
              <a:spcAft>
                <a:spcPts val="0"/>
              </a:spcAft>
            </a:pPr>
            <a:r>
              <a:rPr sz="1500" b="1" i="1">
                <a:solidFill>
                  <a:srgbClr val="E8C96A"/>
                </a:solidFill>
                <a:latin typeface="Calibri"/>
                <a:ea typeface="Calibri"/>
                <a:cs typeface="Calibri"/>
              </a:rPr>
              <a:t>Автоматизация сильна тем, что знает, где остановиться.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400" b="0" i="0">
                <a:solidFill>
                  <a:srgbClr val="C5D4E0"/>
                </a:solidFill>
                <a:latin typeface="Calibri"/>
                <a:ea typeface="Calibri"/>
                <a:cs typeface="Calibri"/>
              </a:rPr>
              <a:t>Откройте :3000 и начните с одной фразы.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B0C0"/>
                </a:solidFill>
                <a:latin typeface="Calibri"/>
                <a:ea typeface="Calibri"/>
                <a:cs typeface="Calibri"/>
              </a:rPr>
              <a:t>Аудитор  ·  коробочный ИИ-агент внутренней проверки  ·  конфиденциально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B0C0"/>
                </a:solidFill>
                <a:latin typeface="Calibri"/>
                <a:ea typeface="Calibri"/>
                <a:cs typeface="Calibri"/>
              </a:rPr>
              <a:t>19  / 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