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ВНУТРЕННИЙ АУДИТ  ·  БАНК РБ  ·  ОН-ПРЕМ  ·  КОРОБКА ИЗ ГОТОВЫХ ИНСТРУМЕНТОВ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Аудитор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D5E0EA"/>
                </a:solidFill>
                <a:latin typeface="Calibri"/>
                <a:ea typeface="Calibri"/>
                <a:cs typeface="Calibri"/>
              </a:rPr>
              <a:t>Коробочный ИИ-агент внутренней аудиторской проверки.
Минимум своего кода. Максимум качества из готового стека.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97680"/>
            <a:ext cx="2651760" cy="1051560"/>
          </a:xfrm>
          <a:prstGeom prst="roundRect">
            <a:avLst>
              <a:gd name="adj" fmla="val 10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46304"/>
          <a:lstStyle/>
          <a:p>
            <a:pPr algn="l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Коробка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compose up → :3000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4297680"/>
            <a:ext cx="2651760" cy="1051560"/>
          </a:xfrm>
          <a:prstGeom prst="roundRect">
            <a:avLst>
              <a:gd name="adj" fmla="val 10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46304"/>
          <a:lstStyle/>
          <a:p>
            <a:pPr algn="l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Готовый стек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Open WebUI · Ollama · SearXNG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297680"/>
            <a:ext cx="2651760" cy="1051560"/>
          </a:xfrm>
          <a:prstGeom prst="roundRect">
            <a:avLst>
              <a:gd name="adj" fmla="val 10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46304"/>
          <a:lstStyle/>
          <a:p>
            <a:pPr algn="l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HITL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модель предлагает — аудитор решает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4297680"/>
            <a:ext cx="2651760" cy="1051560"/>
          </a:xfrm>
          <a:prstGeom prst="roundRect">
            <a:avLst>
              <a:gd name="adj" fmla="val 10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46304"/>
          <a:lstStyle/>
          <a:p>
            <a:pPr algn="l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On-prem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данные не уходят в облако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AB0C0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B0C0"/>
                </a:solidFill>
                <a:latin typeface="Calibri"/>
                <a:ea typeface="Calibri"/>
                <a:cs typeface="Calibri"/>
              </a:rPr>
              <a:t>1  / 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СОДЕРЖАНИЕ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О чём эта презентация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5270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65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Зачем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Боль аудитора, инвариант продукта, почему не «ещё один чат».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32588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8" y="15270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1965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История и функционал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4231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Сеанс до черновика заключения: команды, Word / Excel / zip.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32588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15270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1965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Open WebUI Pipe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8" y="24231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Готовый Functions API. class Pipe, фазы кодом, не native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65760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8587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Алгоритм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754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Маршрутизация фаз кодом, два HITL, RAG с цитатой из утверждённого акта.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365760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98848" y="38587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8848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Коробка и контур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4754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Готовый стек, тонкий доменный слой, on-prem, поставка.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365760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9328" y="38587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8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Эффект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8" y="4754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Что автоматизируется сегодня и где человек остаётся обязательным.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2  / 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КОНТЕКСТ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Каждую проверку аудитор собирает заново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80160"/>
            <a:ext cx="7452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517904"/>
            <a:ext cx="502920" cy="475488"/>
          </a:xfrm>
          <a:prstGeom prst="roundRect">
            <a:avLst>
              <a:gd name="adj" fmla="val 1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426464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Вспомнить НПА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75564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ГК, НК, инструкции НБРБ, акты Минфина и МНС — по теме этой недели.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331720"/>
            <a:ext cx="7452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569464"/>
            <a:ext cx="502920" cy="475488"/>
          </a:xfrm>
          <a:prstGeom prst="roundRect">
            <a:avLst>
              <a:gd name="adj" fmla="val 1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2478024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Найти редакцию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80720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pravo.by / nbrb.by, актуальный текст, не методичка с форума.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83280"/>
            <a:ext cx="7452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621024"/>
            <a:ext cx="502920" cy="475488"/>
          </a:xfrm>
          <a:prstGeom prst="roundRect">
            <a:avLst>
              <a:gd name="adj" fmla="val 1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529584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Вычитать кодекс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85876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Десятки страниц, чтобы вытащить 5–7 норм в рабочую бумагу.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434839"/>
            <a:ext cx="7452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672583"/>
            <a:ext cx="502920" cy="475488"/>
          </a:xfrm>
          <a:prstGeom prst="roundRect">
            <a:avLst>
              <a:gd name="adj" fmla="val 1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581143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Собрать документы СВА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910327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Программа, гипотезы, мнение, заключение — вручную, каждый раз с нуля.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1280160"/>
            <a:ext cx="3566160" cy="4206240"/>
          </a:xfrm>
          <a:prstGeom prst="roundRect">
            <a:avLst>
              <a:gd name="adj" fmla="val 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74320"/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РАЗРЫВ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Модель без документов
галлюцинирует статьи.</a:t>
            </a:r>
          </a:p>
          <a:p>
            <a:pPr algn="l">
              <a:spcBef>
                <a:spcPts val="160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Документы без модели
не масштабируются.</a:t>
            </a:r>
          </a:p>
          <a:p>
            <a:pPr algn="l">
              <a:spcBef>
                <a:spcPts val="2200"/>
              </a:spcBef>
              <a:spcAft>
                <a:spcPts val="0"/>
              </a:spcAft>
            </a:pPr>
            <a:r>
              <a:rPr sz="1300" b="0" i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Нужен RAG + доменный сервер: модель думает, НПА доказывают, аудитор подтверждает.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3  / 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ПРОДУКТ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Коробка: готовые тулзы, тонкий свой слой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Не пишем платформу. Берём стек, который уже умеет чат, модель и поиск. Свой код — только там, где рынка нет.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600200"/>
            <a:ext cx="3749039" cy="3657600"/>
          </a:xfrm>
          <a:prstGeom prst="roundRect">
            <a:avLst>
              <a:gd name="adj" fmla="val 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182880"/>
          <a:lstStyle/>
          <a:p>
            <a:pPr algn="l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Берём готовое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·  Open WebUI — чат, auth, файлы, статусы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·  Ollama — LLM и embedding on-prem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·  SearXNG — поиск по allowlist РБ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·  python-docx / openpyxl — Word и Excel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·  Docker Compose — одна команда поставки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00200"/>
            <a:ext cx="3749039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182880"/>
          <a:lstStyle/>
          <a:p>
            <a:pPr algn="l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Пишем тонко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Function Pipe «Аудитор» — один файл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Audit Tool Server — кейс и HITL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Добыча НПА РБ и нарезка по статьям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Промпты методолога внутренней проверки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Сборка .docx / .xlsx по шаблону банка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600200"/>
            <a:ext cx="3749039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182880"/>
          <a:lstStyle/>
          <a:p>
            <a:pPr algn="l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Не пишем вовсе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Свой чат и продуктовый React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Форк Open WebUI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Свой LLM-рантайм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Свой поисковик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Свой редактор рабочих бумаг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440680"/>
            <a:ext cx="11338560" cy="777240"/>
          </a:xfrm>
          <a:prstGeom prst="rect">
            <a:avLst/>
          </a:prstGeom>
          <a:solidFill>
            <a:srgbClr val="F6F1E6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5961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Принцип: минимум своего кода → максимум качества. Дефолты RAG, температура, allowlist и стоп-кран уже в коробке — аудитор не собирает стек руками.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4  / 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ИНВАРИАНТ ПРОДУКТА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Модель не ставит суждение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1155680" cy="1965960"/>
          </a:xfrm>
          <a:prstGeom prst="roundRect">
            <a:avLst>
              <a:gd name="adj" fmla="val 4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/>
          <a:lstStyle/>
          <a:p>
            <a:pPr algn="l"/>
            <a:r>
              <a:rPr sz="2000" b="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«Модель ускоряет поиск нормы и черновик обзора. Она не ставит аудиторское суждение и не заменяет чтение первоисточника. Цитата проверяется по файлу в кейсе.»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56616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201168"/>
          <a:lstStyle/>
          <a:p>
            <a:pPr algn="l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Ускоряет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Библиотека НПА, саммари, программа, гипотезы, черновики мнения и заключения.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56616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201168"/>
          <a:lstStyle/>
          <a:p>
            <a:pPr algn="l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Не подписывает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Нет вывода «нарушение установлено». Нет автоподписи АЗ и WP.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356616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201168"/>
          <a:lstStyle/>
          <a:p>
            <a:pPr algn="l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Сверяется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Блок «Откуда в базе знаний» + zip первоисточника в папке кейса.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AB0C0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B0C0"/>
                </a:solidFill>
                <a:latin typeface="Calibri"/>
                <a:ea typeface="Calibri"/>
                <a:cs typeface="Calibri"/>
              </a:rPr>
              <a:t>5  / 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ПОЛЬЗОВАТЕЛЬСКАЯ ИСТОРИЯ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Внутренний аудитор банка, проверка аренды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Тема недели: аренда коммерческой недвижимости — валютные расчёты, НДС, договоры с нерезидентами.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0020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/>
          <a:lstStyle/>
          <a:p>
            <a:pPr algn="l"/>
            <a:r>
              <a:rPr sz="1200" b="1" i="0">
                <a:solidFill>
                  <a:srgbClr val="B44A3A"/>
                </a:solidFill>
                <a:latin typeface="Calibri"/>
                <a:ea typeface="Calibri"/>
                <a:cs typeface="Calibri"/>
              </a:rPr>
              <a:t>РАНЬШЕ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▸  Вспоминаю акты по памяти и старым WP.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▸  Ищу редакции на pravo.by вкладками.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▸  Читаю ГК/НК целиком «на всякий случай».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▸  Программу и гипотезы собираю с нуля.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▸  Мнение и заключение пишу вручную.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▸  Риск: устаревшая редакция или чужая юрисдикция.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00200"/>
            <a:ext cx="5486400" cy="4526280"/>
          </a:xfrm>
          <a:prstGeom prst="roundRect">
            <a:avLst>
              <a:gd name="adj" fmla="val 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/>
          <a:lstStyle/>
          <a:p>
            <a:pPr algn="l"/>
            <a:r>
              <a:rPr sz="12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ТЕПЕРЬ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Одной фразой описываю проверку в чате.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Утверждаю список НПА — без этого ничего не качается.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саммари и программа — Word со ссылками, не дамп кодекса.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гипотезы — Excel-чеклист; подтверждаю номера.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аудиторское мнение — раздел I для руководства.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аудиторское заключение — полный черновик в Word.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6  / 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СЦЕНАРИЙ СЕАНСА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Один чат = одна проверка до черновика АЗ</a:t>
            </a:r>
          </a:p>
        </p:txBody>
      </p:sp>
      <p:sp>
        <p:nvSpPr>
          <p:cNvPr id="9" name="Oval 8"/>
          <p:cNvSpPr/>
          <p:nvPr/>
        </p:nvSpPr>
        <p:spPr>
          <a:xfrm>
            <a:off x="1508760" y="1261872"/>
            <a:ext cx="438912" cy="438912"/>
          </a:xfrm>
          <a:prstGeom prst="ellipse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792224"/>
            <a:ext cx="27889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6304"/>
          <a:lstStyle/>
          <a:p>
            <a:pPr algn="ctr"/>
            <a:r>
              <a:rPr sz="14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Описать</a:t>
            </a:r>
          </a:p>
          <a:p>
            <a:pPr algn="ctr">
              <a:spcBef>
                <a:spcPts val="500"/>
              </a:spcBef>
              <a:spcAft>
                <a:spcPts val="0"/>
              </a:spcAft>
            </a:pPr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Проверка аренды…,</a:t>
            </a:r>
          </a:p>
          <a:p>
            <a:pPr algn="ctr">
              <a:spcBef>
                <a:spcPts val="500"/>
              </a:spcBef>
              <a:spcAft>
                <a:spcPts val="0"/>
              </a:spcAft>
            </a:pPr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аренда, валюта, НДС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4680" y="2221992"/>
            <a:ext cx="164592" cy="128016"/>
          </a:xfrm>
          <a:prstGeom prst="rightArrow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53128" y="1261872"/>
            <a:ext cx="438912" cy="438912"/>
          </a:xfrm>
          <a:prstGeom prst="ellipse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792224"/>
            <a:ext cx="27889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6304"/>
          <a:lstStyle/>
          <a:p>
            <a:pPr algn="ctr"/>
            <a:r>
              <a:rPr sz="14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Утвердить</a:t>
            </a:r>
          </a:p>
          <a:p>
            <a:pPr algn="ctr">
              <a:spcBef>
                <a:spcPts val="500"/>
              </a:spcBef>
              <a:spcAft>
                <a:spcPts val="0"/>
              </a:spcAft>
            </a:pPr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утверждаю 1, 2, 4</a:t>
            </a:r>
          </a:p>
          <a:p>
            <a:pPr algn="ctr">
              <a:spcBef>
                <a:spcPts val="500"/>
              </a:spcBef>
              <a:spcAft>
                <a:spcPts val="0"/>
              </a:spcAft>
            </a:pPr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плюс Инструкция 38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99048" y="2221992"/>
            <a:ext cx="164592" cy="128016"/>
          </a:xfrm>
          <a:prstGeom prst="rightArrow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97496" y="1261872"/>
            <a:ext cx="438912" cy="438912"/>
          </a:xfrm>
          <a:prstGeom prst="ellipse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0216" y="1792224"/>
            <a:ext cx="27889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6304"/>
          <a:lstStyle/>
          <a:p>
            <a:pPr algn="ctr"/>
            <a:r>
              <a:rPr sz="14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Читать</a:t>
            </a:r>
          </a:p>
          <a:p>
            <a:pPr algn="ctr">
              <a:spcBef>
                <a:spcPts val="500"/>
              </a:spcBef>
              <a:spcAft>
                <a:spcPts val="0"/>
              </a:spcAft>
            </a:pPr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саммари</a:t>
            </a:r>
          </a:p>
          <a:p>
            <a:pPr algn="ctr">
              <a:spcBef>
                <a:spcPts val="500"/>
              </a:spcBef>
              <a:spcAft>
                <a:spcPts val="0"/>
              </a:spcAft>
            </a:pPr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программа проверки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43416" y="2221992"/>
            <a:ext cx="164592" cy="128016"/>
          </a:xfrm>
          <a:prstGeom prst="rightArrow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41864" y="1261872"/>
            <a:ext cx="438912" cy="438912"/>
          </a:xfrm>
          <a:prstGeom prst="ellipse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44584" y="1792224"/>
            <a:ext cx="27889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6304"/>
          <a:lstStyle/>
          <a:p>
            <a:pPr algn="ctr"/>
            <a:r>
              <a:rPr sz="14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Планировать</a:t>
            </a:r>
          </a:p>
          <a:p>
            <a:pPr algn="ctr">
              <a:spcBef>
                <a:spcPts val="500"/>
              </a:spcBef>
              <a:spcAft>
                <a:spcPts val="0"/>
              </a:spcAft>
            </a:pPr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гипотезы</a:t>
            </a:r>
          </a:p>
          <a:p>
            <a:pPr algn="ctr">
              <a:spcBef>
                <a:spcPts val="500"/>
              </a:spcBef>
              <a:spcAft>
                <a:spcPts val="0"/>
              </a:spcAft>
            </a:pPr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Excel-чеклист</a:t>
            </a:r>
          </a:p>
        </p:txBody>
      </p:sp>
      <p:sp>
        <p:nvSpPr>
          <p:cNvPr id="20" name="Oval 19"/>
          <p:cNvSpPr/>
          <p:nvPr/>
        </p:nvSpPr>
        <p:spPr>
          <a:xfrm>
            <a:off x="1508760" y="3593592"/>
            <a:ext cx="438912" cy="438912"/>
          </a:xfrm>
          <a:prstGeom prst="ellipse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123944"/>
            <a:ext cx="27889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6304"/>
          <a:lstStyle/>
          <a:p>
            <a:pPr algn="ctr"/>
            <a:r>
              <a:rPr sz="14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Подтвердить</a:t>
            </a:r>
          </a:p>
          <a:p>
            <a:pPr algn="ctr">
              <a:spcBef>
                <a:spcPts val="500"/>
              </a:spcBef>
              <a:spcAft>
                <a:spcPts val="0"/>
              </a:spcAft>
            </a:pPr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утверждаю гипотезы</a:t>
            </a:r>
          </a:p>
          <a:p>
            <a:pPr algn="ctr">
              <a:spcBef>
                <a:spcPts val="500"/>
              </a:spcBef>
              <a:spcAft>
                <a:spcPts val="0"/>
              </a:spcAft>
            </a:pPr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1, 3, 5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154680" y="4553712"/>
            <a:ext cx="164592" cy="128016"/>
          </a:xfrm>
          <a:prstGeom prst="rightArrow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53128" y="3593592"/>
            <a:ext cx="438912" cy="438912"/>
          </a:xfrm>
          <a:prstGeom prst="ellipse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55848" y="4123944"/>
            <a:ext cx="27889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6304"/>
          <a:lstStyle/>
          <a:p>
            <a:pPr algn="ctr"/>
            <a:r>
              <a:rPr sz="14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Мнение</a:t>
            </a:r>
          </a:p>
          <a:p>
            <a:pPr algn="ctr">
              <a:spcBef>
                <a:spcPts val="500"/>
              </a:spcBef>
              <a:spcAft>
                <a:spcPts val="0"/>
              </a:spcAft>
            </a:pPr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аудиторское мнение</a:t>
            </a:r>
          </a:p>
          <a:p>
            <a:pPr algn="ctr">
              <a:spcBef>
                <a:spcPts val="500"/>
              </a:spcBef>
              <a:spcAft>
                <a:spcPts val="0"/>
              </a:spcAft>
            </a:pPr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раздел I, 2–4 стр.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099048" y="4553712"/>
            <a:ext cx="164592" cy="128016"/>
          </a:xfrm>
          <a:prstGeom prst="rightArrow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97496" y="3593592"/>
            <a:ext cx="438912" cy="438912"/>
          </a:xfrm>
          <a:prstGeom prst="ellipse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0216" y="4123944"/>
            <a:ext cx="27889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6304"/>
          <a:lstStyle/>
          <a:p>
            <a:pPr algn="ctr"/>
            <a:r>
              <a:rPr sz="14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Заключение</a:t>
            </a:r>
          </a:p>
          <a:p>
            <a:pPr algn="ctr">
              <a:spcBef>
                <a:spcPts val="500"/>
              </a:spcBef>
              <a:spcAft>
                <a:spcPts val="0"/>
              </a:spcAft>
            </a:pPr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аудиторское заключение</a:t>
            </a:r>
          </a:p>
          <a:p>
            <a:pPr algn="ctr">
              <a:spcBef>
                <a:spcPts val="500"/>
              </a:spcBef>
              <a:spcAft>
                <a:spcPts val="0"/>
              </a:spcAft>
            </a:pPr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полный черновик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043416" y="4553712"/>
            <a:ext cx="164592" cy="128016"/>
          </a:xfrm>
          <a:prstGeom prst="rightArrow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41864" y="3593592"/>
            <a:ext cx="438912" cy="438912"/>
          </a:xfrm>
          <a:prstGeom prst="ellipse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44584" y="4123944"/>
            <a:ext cx="27889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6304"/>
          <a:lstStyle/>
          <a:p>
            <a:pPr algn="ctr"/>
            <a:r>
              <a:rPr sz="14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Спросить</a:t>
            </a:r>
          </a:p>
          <a:p>
            <a:pPr algn="ctr">
              <a:spcBef>
                <a:spcPts val="500"/>
              </a:spcBef>
              <a:spcAft>
                <a:spcPts val="0"/>
              </a:spcAft>
            </a:pPr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вопрос Какой срок</a:t>
            </a:r>
          </a:p>
          <a:p>
            <a:pPr algn="ctr">
              <a:spcBef>
                <a:spcPts val="500"/>
              </a:spcBef>
              <a:spcAft>
                <a:spcPts val="0"/>
              </a:spcAft>
            </a:pPr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регистрации аренды?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7  / 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ФУНКЦИОНАЛ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Что умеет агент сегодня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80160"/>
            <a:ext cx="281635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280160"/>
            <a:ext cx="109728" cy="219456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481328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Библиотека НПА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148840"/>
            <a:ext cx="2423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Propose → HITL → download с allowlist РБ. extra_titles, ручной URL, known_sources.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1280160"/>
            <a:ext cx="281635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0128" y="1280160"/>
            <a:ext cx="109728" cy="219456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1481328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Саммари 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148840"/>
            <a:ext cx="2423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Карточка по каждому акту + обзор проверки + приложение фрагментов [n].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280160"/>
            <a:ext cx="281635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4496" y="1280160"/>
            <a:ext cx="109728" cy="219456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1481328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Программа проверки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148840"/>
            <a:ext cx="2423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Черновик СВА: цель, риски, процедуры, критерии по праву РБ.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98864" y="1280160"/>
            <a:ext cx="281635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98864" y="1280160"/>
            <a:ext cx="109728" cy="219456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54896" y="1481328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Гипотезы Excel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54896" y="2148840"/>
            <a:ext cx="2423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8–10 гипотез для проверки. В мнение идут только подтверждённые.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657600"/>
            <a:ext cx="281635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657600"/>
            <a:ext cx="109728" cy="2194560"/>
          </a:xfrm>
          <a:prstGeom prst="rect">
            <a:avLst/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3858768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Аудиторское мнение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4526280"/>
            <a:ext cx="2423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Раздел I заключения: 2–4 стр. для руководства. Только после HITL по гипотезам.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10128" y="3657600"/>
            <a:ext cx="281635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10128" y="3657600"/>
            <a:ext cx="109728" cy="2194560"/>
          </a:xfrm>
          <a:prstGeom prst="rect">
            <a:avLst/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60" y="3858768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Аудиторское заключение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4526280"/>
            <a:ext cx="2423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Полный черновик: титул, содержание, мнение, наблюдения, общая информация.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54496" y="3657600"/>
            <a:ext cx="281635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54496" y="3657600"/>
            <a:ext cx="109728" cy="2194560"/>
          </a:xfrm>
          <a:prstGeom prst="rect">
            <a:avLst/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3858768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Вопрос по базе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0528" y="4526280"/>
            <a:ext cx="2423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Префикс «вопрос …» → RAG + блок «Откуда в базе знаний».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98864" y="3657600"/>
            <a:ext cx="281635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98864" y="3657600"/>
            <a:ext cx="109728" cy="2194560"/>
          </a:xfrm>
          <a:prstGeom prst="rect">
            <a:avLst/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54896" y="3858768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Система записи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54896" y="4526280"/>
            <a:ext cx="2423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Кейс на диске: статусы, манифест, sha256, zip первоисточников.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8  / 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ВЫХОДЫ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Артефакты, которые аудитор уносит из чата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370332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" y="1481328"/>
            <a:ext cx="868680" cy="347472"/>
          </a:xfrm>
          <a:prstGeom prst="roundRect">
            <a:avLst>
              <a:gd name="adj" fmla="val 3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.zip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49961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Библиотека НПА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01168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Первоисточники HTML/PDF, которые вы утвердили — не «то, что модель вспомнила».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280160"/>
            <a:ext cx="370332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98848" y="1481328"/>
            <a:ext cx="868680" cy="347472"/>
          </a:xfrm>
          <a:prstGeom prst="roundRect">
            <a:avLst>
              <a:gd name="adj" fmla="val 3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.docx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149961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Обзор актов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01168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Нормативный контур проверки, карточки существенного, ссылки на статьи.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280160"/>
            <a:ext cx="370332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85048" y="1481328"/>
            <a:ext cx="868680" cy="347472"/>
          </a:xfrm>
          <a:prstGeom prst="roundRect">
            <a:avLst>
              <a:gd name="adj" fmla="val 3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.docx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149961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Программа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201168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Черновик программы аудиторской проверки банка РБ. Не подпись руководителя СВА.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3611880"/>
            <a:ext cx="370332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2648" y="3813048"/>
            <a:ext cx="868680" cy="347472"/>
          </a:xfrm>
          <a:prstGeom prst="roundRect">
            <a:avLst>
              <a:gd name="adj" fmla="val 3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.xlsx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83133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Гипотезы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34340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Чеклист 8–10 гипотез: что смотреть, на что опираться, статус для HITL.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3611880"/>
            <a:ext cx="370332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498848" y="3813048"/>
            <a:ext cx="868680" cy="347472"/>
          </a:xfrm>
          <a:prstGeom prst="roundRect">
            <a:avLst>
              <a:gd name="adj" fmla="val 3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.docx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383133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Мнение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434340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Раздел I: цели, инструменты, агрегированный взгляд, рекомендации. Черновик для правки.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3611880"/>
            <a:ext cx="370332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385048" y="3813048"/>
            <a:ext cx="868680" cy="347472"/>
          </a:xfrm>
          <a:prstGeom prst="roundRect">
            <a:avLst>
              <a:gd name="adj" fmla="val 3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.docx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383133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Заключение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5048" y="434340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Титул, содержание, раздел I, наблюдения по шаблону, общая информация. Не акт СВА.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9  / 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ДОКУМЕНТЫ СВА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От подтверждённых гипотез — к черновику заключения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78992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В текст идут только гипотезы, которые аудитор отметил. Неподтверждённые в промпт не кладём.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417320"/>
            <a:ext cx="55778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164592"/>
          <a:lstStyle/>
          <a:p>
            <a:pPr algn="l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Аудиторское мнение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00" b="0" i="1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Команда: аудиторское мнение  ·  -c Calibri / -t Times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▸  Раздел I: «Аудиторское мнение по итогам проверки».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▸  2–4 страницы повествования для руководства банка.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▸  Цели и задачи, инструменты, агрегированный взгляд, резюме рекомендаций.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▸  Без таблиц и схем. Шрифт как в типовом АЗ банка.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▸  Черновик для правки, не подписанный акт СВА.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417320"/>
            <a:ext cx="5577840" cy="3657600"/>
          </a:xfrm>
          <a:prstGeom prst="roundRect">
            <a:avLst>
              <a:gd name="adj" fmla="val 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164592"/>
          <a:lstStyle/>
          <a:p>
            <a:pPr algn="l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Аудиторское заключение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00" b="0" i="1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Команда: аудиторское заключение  ·  после раздела I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Титул, содержание, раздел I из уже собранного мнения.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Наблюдения по каждой подтверждённой гипотезе — шаблон раздела III.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Последний раздел — общая информация о проверке.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Раздел II (сводная таблица) сервер подставит позже.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Полный текст в чат не копируется — только ссылка на Word.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5212080"/>
            <a:ext cx="11338560" cy="960120"/>
          </a:xfrm>
          <a:prstGeom prst="roundRect">
            <a:avLst>
              <a:gd name="adj" fmla="val 4000"/>
            </a:avLst>
          </a:prstGeom>
          <a:solidFill>
            <a:srgbClr val="F6F1E6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гипотезы  →  утверждаю гипотезы 1, 3, 5  →  аудиторское мнение  →  аудиторское заключение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10  / 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АРХИТЕКТУРА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Сборка готового, не форк и не свой чат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61872"/>
            <a:ext cx="11247120" cy="1024128"/>
          </a:xfrm>
          <a:prstGeom prst="roundRect">
            <a:avLst>
              <a:gd name="adj" fmla="val 4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46304"/>
          <a:lstStyle/>
          <a:p>
            <a:pPr algn="l"/>
            <a:r>
              <a:rPr sz="12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ПОВЕРХНОСТЬ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Open WebUI — чат, auth, файлы, статусы. Свой React не пишем.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04872"/>
            <a:ext cx="11247120" cy="1024128"/>
          </a:xfrm>
          <a:prstGeom prst="roundRect">
            <a:avLst>
              <a:gd name="adj" fmla="val 4000"/>
            </a:avLst>
          </a:prstGeom>
          <a:solidFill>
            <a:srgbClr val="1E5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46304"/>
          <a:lstStyle/>
          <a:p>
            <a:pPr algn="l"/>
            <a:r>
              <a:rPr sz="12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КЛЕЙ АГЕНТА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Function Pipe «Аудитор». Фазы кодом. Без бизнес-логики внутри.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47872"/>
            <a:ext cx="11247120" cy="1024128"/>
          </a:xfrm>
          <a:prstGeom prst="roundRect">
            <a:avLst>
              <a:gd name="adj" fmla="val 4000"/>
            </a:avLst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46304"/>
          <a:lstStyle/>
          <a:p>
            <a:pPr algn="l"/>
            <a:r>
              <a:rPr sz="12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ЯДРО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Audit Tool Server: кейс, HITL, НПА РБ, RAG, Word мнения и заключения.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690872"/>
            <a:ext cx="11247120" cy="1024128"/>
          </a:xfrm>
          <a:prstGeom prst="roundRect">
            <a:avLst>
              <a:gd name="adj" fmla="val 4000"/>
            </a:avLst>
          </a:prstGeom>
          <a:solidFill>
            <a:srgbClr val="3D4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46304"/>
          <a:lstStyle/>
          <a:p>
            <a:pPr algn="l"/>
            <a:r>
              <a:rPr sz="12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ИНФРА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Ollama (LLM + embed) · SearXNG (allowlist) · диск кейса. DuckDB — план.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11  / 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ТЕОРИЯ  ·  OPEN WEBUI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Три способа «сделать агента» — выбран Pipe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80160"/>
            <a:ext cx="3749039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280160"/>
            <a:ext cx="3749039" cy="109728"/>
          </a:xfrm>
          <a:prstGeom prst="rect">
            <a:avLst/>
          </a:prstGeom>
          <a:solidFill>
            <a:srgbClr val="B4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Chat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1168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Обычный Qwen в списке (иконка ol).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97480"/>
            <a:ext cx="3291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Свободный диалог. Нет кейса, нет стоп-крана, нет download.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349240"/>
            <a:ext cx="2194560" cy="411480"/>
          </a:xfrm>
          <a:prstGeom prst="roundRect">
            <a:avLst>
              <a:gd name="adj" fmla="val 30000"/>
            </a:avLst>
          </a:prstGeom>
          <a:solidFill>
            <a:srgbClr val="B4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Не продукт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1280160"/>
            <a:ext cx="3749039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1280160"/>
            <a:ext cx="3749039" cy="109728"/>
          </a:xfrm>
          <a:prstGeom prst="rect">
            <a:avLst/>
          </a:prstGeom>
          <a:solidFill>
            <a:srgbClr val="6B7C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5544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Tools + Native FC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01168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Модель сама вызывает HTTP-tools.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697480"/>
            <a:ext cx="3291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Локальная 27B плохо держит function calling: может скачать без «утверждаю» или не вызвать tool вовсе.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60" y="5349240"/>
            <a:ext cx="2194560" cy="411480"/>
          </a:xfrm>
          <a:prstGeom prst="roundRect">
            <a:avLst>
              <a:gd name="adj" fmla="val 30000"/>
            </a:avLst>
          </a:prstGeom>
          <a:solidFill>
            <a:srgbClr val="6B7C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Запасной путь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1280160"/>
            <a:ext cx="3749039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38160" y="1280160"/>
            <a:ext cx="3749039" cy="109728"/>
          </a:xfrm>
          <a:prstGeom prst="rect">
            <a:avLst/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15544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Function Pipe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01168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Python class Pipe в Admin → Functions.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697480"/>
            <a:ext cx="3291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Сообщение входит в pipe(). Фазу выбирает код. Модель вызывается точечно. HITL железобетонный.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66760" y="5349240"/>
            <a:ext cx="2194560" cy="411480"/>
          </a:xfrm>
          <a:prstGeom prst="roundRect">
            <a:avLst>
              <a:gd name="adj" fmla="val 30000"/>
            </a:avLst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Продуктовый путь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12  / 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РЕАЛИЗАЦИЯ  ·  AUDIT_AGENT.PY V0.2.9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Как устроен Function Pipe «Аудитор»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61872"/>
            <a:ext cx="576072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/>
            <a:r>
              <a:rPr sz="15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Контракт Open WebUI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●  class Pipe — появляется в списке как модель «Аудитор».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●  Valves — параметры без правки кода: AUDIT_API, PUBLIC_API, таймауты, ключ Knowledge.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●  async pipe(body, __user__, __event_emitter__) — единственная точка входа.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●  __event_emitter__ рисует статусы в чате («Скачиваю…»), это не ответ модели.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●  Бизнес-логики в Pipe нет: только маршрут + HTTP на FastAPI + формат ответа.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●  Память проверки: скрытая метка &lt;!--audit-case:id--&gt; в истории чата.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●  Команды мнения и заключения — те же фразы, что у саммари: ловит код, не модель.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261872"/>
            <a:ext cx="5394960" cy="4846320"/>
          </a:xfrm>
          <a:prstGeom prst="roundRect">
            <a:avLst>
              <a:gd name="adj" fmla="val 4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01168"/>
          <a:lstStyle/>
          <a:p>
            <a:pPr algn="l"/>
            <a:r>
              <a:rPr sz="15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Valves (из коробки)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AUDIT_API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http://backend:8100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PUBLIC_API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http://localhost:8100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TIMEOUT_SEC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600  — propose / download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BRIEF_TIMEOUT_SEC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1800 — Word / Excel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OPENWEBUI_API_KEY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пусто = индекс сервера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13  / 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АЛГОРИТМ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Фаза выбирается кодом. Первое совпадение побеждает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Это не свободный ReAct. Локальная 27B не решает, какой tool вызвать.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50876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2064" y="167335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6733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помощь /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21488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шпаргалка, без LLM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0128" y="150876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56432" y="167335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16733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вопрос … / /ask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21488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RAG по индексу кейса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150876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167335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76288" y="16733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утверждаю гипотезы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1488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HITL: в мнение только отмеченные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98864" y="150876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45168" y="167335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0656" y="16733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мнение / заключение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21488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Word раздела I и полный черновик АЗ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306324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12064" y="322783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" y="32278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программа проверки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" y="370332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черновик СВА → .docx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10128" y="306324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456432" y="322783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1920" y="32278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саммари total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6432" y="370332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конспект из знаний модели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54496" y="306324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00800" y="322783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76288" y="32278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гипотезы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70332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Excel-чеклист 8–10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98864" y="306324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345168" y="322783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0656" y="32278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саммари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5168" y="370332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карточки актов → .docx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461772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12064" y="478231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" y="47823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утверждаю / скачай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" y="525780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select + download, без LLM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10128" y="461772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456432" y="478231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47823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документы / статус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56432" y="525780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чтение кейса, без LLM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54496" y="461772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400800" y="478231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47823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похож на проверку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25780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create + propose, если нет кейса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198864" y="461772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345168" y="478231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20656" y="47823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иначе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45168" y="525780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обычный чат POST /chat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14  / 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HUMAN-IN-THE-LOOP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Два стоп-крана: НПА и гипотезы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2148840" cy="1874519"/>
          </a:xfrm>
          <a:prstGeom prst="roundRect">
            <a:avLst>
              <a:gd name="adj" fmla="val 8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6032"/>
          <a:lstStyle/>
          <a:p>
            <a:pPr algn="ctr"/>
            <a:r>
              <a:rPr sz="16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LLM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JSON со списком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8–15 актов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41448" y="2148840"/>
            <a:ext cx="219456" cy="164592"/>
          </a:xfrm>
          <a:prstGeom prst="rightArrow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97480" y="1371600"/>
            <a:ext cx="2148840" cy="1874519"/>
          </a:xfrm>
          <a:prstGeom prst="roundRect">
            <a:avLst>
              <a:gd name="adj" fmla="val 8000"/>
            </a:avLst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6032"/>
          <a:lstStyle/>
          <a:p>
            <a:pPr algn="ctr"/>
            <a:r>
              <a:rPr sz="16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Pipe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Нумерует, просит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«утверждаю»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73168" y="2148840"/>
            <a:ext cx="219456" cy="164592"/>
          </a:xfrm>
          <a:prstGeom prst="rightArrow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0" y="1371600"/>
            <a:ext cx="2148840" cy="1874519"/>
          </a:xfrm>
          <a:prstGeom prst="roundRect">
            <a:avLst>
              <a:gd name="adj" fmla="val 8000"/>
            </a:avLst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6032"/>
          <a:lstStyle/>
          <a:p>
            <a:pPr algn="ctr"/>
            <a:r>
              <a:rPr sz="1600" b="1" i="0">
                <a:solidFill>
                  <a:srgbClr val="0B1F33"/>
                </a:solidFill>
                <a:latin typeface="Calibri"/>
                <a:ea typeface="Calibri"/>
                <a:cs typeface="Calibri"/>
              </a:rPr>
              <a:t>Человек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Номера, плюс,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URL, отказ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04887" y="2148840"/>
            <a:ext cx="219456" cy="164592"/>
          </a:xfrm>
          <a:prstGeom prst="rightArrow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60919" y="1371600"/>
            <a:ext cx="2148840" cy="1874519"/>
          </a:xfrm>
          <a:prstGeom prst="roundRect">
            <a:avLst>
              <a:gd name="adj" fmla="val 8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6032"/>
          <a:lstStyle/>
          <a:p>
            <a:pPr algn="ctr"/>
            <a:r>
              <a:rPr sz="16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Сервер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select → download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только после HITL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436608" y="2148840"/>
            <a:ext cx="219456" cy="164592"/>
          </a:xfrm>
          <a:prstGeom prst="rightArrow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92640" y="1371600"/>
            <a:ext cx="2148840" cy="1874519"/>
          </a:xfrm>
          <a:prstGeom prst="roundRect">
            <a:avLst>
              <a:gd name="adj" fmla="val 8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6032"/>
          <a:lstStyle/>
          <a:p>
            <a:pPr algn="ctr"/>
            <a:r>
              <a:rPr sz="16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Индекс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Статьи, embeddings,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библиотека кейса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520440"/>
            <a:ext cx="3749039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82880"/>
          <a:lstStyle/>
          <a:p>
            <a:pPr algn="l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Где модель молчит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утверждаю, плюс, скачай, утверждаю гипотезы, документы, статус, помощь — чистый код. Галлюцинация статьи здесь невозможна.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60" y="3520440"/>
            <a:ext cx="3749039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82880"/>
          <a:lstStyle/>
          <a:p>
            <a:pPr algn="l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Где модель говорит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propose (JSON), саммари, total, программа, гипотезы, мнение, заключение, вопрос по фрагментам, обычный чат.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520440"/>
            <a:ext cx="3749039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82880"/>
          <a:lstStyle/>
          <a:p>
            <a:pPr algn="l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Второй стоп-кран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Без «утверждаю гипотезы …» нет мнения и заключения. Неподтверждённые гипотезы в промпт не кладём.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15  / 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КАЧЕСТВО ОТВЕТА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Цитата из утверждённого акта, не из памяти модели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61872"/>
            <a:ext cx="580644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/>
            <a:r>
              <a:rPr sz="15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Конвейер «вопрос …»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1.  Только если сообщение начинается с «вопрос» — иначе это не норма.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2.  Эмбеддинг вопроса той же моделью, что индекс: qwen3-embedding.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3.  Hybrid: BM25 + пересечение слов + cosine → RRF → MMR. Top-k = 16.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4.  Промпт: только фрагменты. Нет во фрагментах — отказ. Не РФ / IFRS.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5.  Pipe дописывает блок «Откуда в базе знаний» даже если модель гладкая.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6.  Веб-поиска на этом шаге нет. SearXNG — только добыча в библиотеку.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261872"/>
            <a:ext cx="5349240" cy="2240280"/>
          </a:xfrm>
          <a:prstGeom prst="roundRect">
            <a:avLst>
              <a:gd name="adj" fmla="val 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/>
          <a:lstStyle/>
          <a:p>
            <a:pPr algn="l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Норма  ≠  факт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Норма — НПА в knowledge_*. Ответ: RAG + цитата статьи.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Факт — выгрузки клиента. Ответ: SQL / tools (план). Не класть Excel в Knowledge.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703320"/>
            <a:ext cx="5349240" cy="2404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64592"/>
          <a:lstStyle/>
          <a:p>
            <a:pPr algn="l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Нарезка под юридический текст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Чанкер по «Статья N», не дешёвый сплиттер по символам. Окно модели 32k. Embedding — не MiniLM. Температура 0.1–0.2.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Источник истины для аудитора — блок цитат и файл в zip, не красноречие абзаца.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16  / 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КОНФИДЕНЦИАЛЬНОСТЬ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Работа с чувствительными данными — by design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80160"/>
            <a:ext cx="374903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26464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On-prem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965960"/>
            <a:ext cx="3337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Ollama на хосте банка. qwen3.8:27b не уходит в OpenAI / облако. Формулировки проверки остаются в контуре.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280160"/>
            <a:ext cx="374903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53128" y="148132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426464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Allowlist РБ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65960"/>
            <a:ext cx="3337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pravo.by, nbrb.by, minfin, nalog, government, president. Defense in depth: SearXNG и сервер.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280160"/>
            <a:ext cx="374903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39328" y="148132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1426464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Клиент ≠ поиск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8" y="1965960"/>
            <a:ext cx="3337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Выгрузки, договоры, суммы в SearXNG не передаются. Веб-поиск в чате выключен.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611880"/>
            <a:ext cx="374903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81304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758184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Две вселенные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297680"/>
            <a:ext cx="3337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Норма и факт не смешиваются в одной Knowledge. Скрепка с Excel клиента — запрещённый путь.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51960" y="3611880"/>
            <a:ext cx="374903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453128" y="381304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60" y="3758184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Air-gap готовность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4297680"/>
            <a:ext cx="3337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Образы и веса моделей едут файлами, не качаются с Hugging Face в банке.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3611880"/>
            <a:ext cx="374903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339328" y="381304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0" y="3758184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Аудит действий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8" y="4297680"/>
            <a:ext cx="3337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case.json, manifest (URL, sha256), статусы created → ready. Trail вызовов — в плане.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17  / 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ПОСТАВКА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Коробочное решение, не стенд разработчика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Если аудитор должен выбрать embedding, включить hybrid и привязать Knowledge — это не продукт.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00200"/>
            <a:ext cx="11247120" cy="1051560"/>
          </a:xfrm>
          <a:prstGeom prst="roundRect">
            <a:avLst>
              <a:gd name="adj" fmla="val 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 compose up -d --build     →     http://localhost:3000     →     модель «Аудитор»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880360"/>
            <a:ext cx="3749039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64592"/>
          <a:lstStyle/>
          <a:p>
            <a:pPr algn="l"/>
            <a:r>
              <a:rPr sz="15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Уже в коробке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Open WebUI + backend + SearXNG в одном compose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Ollama на хосте: чат 27B + embedding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RAG-env из compose: hybrid, qwen embedding, top-k 16, num_ctx 32k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Веб-поиск выключен, имя продукта — «Аудитор»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Pipe — один Python-файл, без форка Open WebUI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880360"/>
            <a:ext cx="3749039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64592"/>
          <a:lstStyle/>
          <a:p>
            <a:pPr algn="l"/>
            <a:r>
              <a:rPr sz="15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Качество из коробки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Промпты методолога ВА банка РБ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Запрет РФ / ЕС / IFRS, если их нет во фрагментах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Температура 0.1–0.2 на сервере, не слайдер чата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Шаблон RAG: нет во фрагментах — отказ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Два HITL: НПА и гипотезы — железные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2880360"/>
            <a:ext cx="3749039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64592"/>
          <a:lstStyle/>
          <a:p>
            <a:pPr algn="l"/>
            <a:r>
              <a:rPr sz="15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Что это даёт банку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Один URL для аудитора, без Vite и Swagger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Свой код только там, где рынка нет: кейс, домен РБ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Можно поставить на машину / контур СВА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Не SaaS с клиентскими файлами во внешней LLM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Масштаб: следующий аудитор открывает тот же чат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18  / 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ЭФФЕКТ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Почему это автоматизация другого уровня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80160"/>
            <a:ext cx="3749039" cy="2148840"/>
          </a:xfrm>
          <a:prstGeom prst="roundRect">
            <a:avLst>
              <a:gd name="adj" fmla="val 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087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Часы → минуты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57400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Сбор нормативной базы проверки: не вкладки pravo.by, а утверждённый список и zip.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280160"/>
            <a:ext cx="3749039" cy="2148840"/>
          </a:xfrm>
          <a:prstGeom prst="roundRect">
            <a:avLst>
              <a:gd name="adj" fmla="val 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5087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Кодекс → карточка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057400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Саммари даёт существенное для этой темы, а не дамп статей по порядку.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280160"/>
            <a:ext cx="3749039" cy="2148840"/>
          </a:xfrm>
          <a:prstGeom prst="roundRect">
            <a:avLst>
              <a:gd name="adj" fmla="val 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5087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Память → цитата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057400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Ответ на норму опирается на файл кейса. Pipe сам дописывает источник.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611880"/>
            <a:ext cx="3749039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840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Хаос → кейс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389120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Система записи: что утвердили, что скачали, какой URL, какой индекс.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3611880"/>
            <a:ext cx="3749039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3840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Чат → артефакт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389120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Выход — Word и Excel СВА: саммари, программа, мнение, заключение. Не история чата.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611880"/>
            <a:ext cx="3749039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3840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Чеклист → АЗ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389120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Подтверждённые гипотезы складываются в черновик раздела I и полного заключения — аудитор правит, а не пишет с нуля.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19  / 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ИТОГ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Агент, которому можно доверить контур проверки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5623560" cy="4800600"/>
          </a:xfrm>
          <a:prstGeom prst="roundRect">
            <a:avLst>
              <a:gd name="adj" fmla="val 4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/>
          <a:lstStyle/>
          <a:p>
            <a:pPr algn="l"/>
            <a:r>
              <a:rPr sz="15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Что уже можно показать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Один URL, модель «Аудитор» в списке.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НПА и гипотезы нельзя взять в работу без «утверждаю».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саммари / программа / гипотезы / мнение / заключение — файлы.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вопрос … — с цитатой; нет в библиотеке — отказ.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Клиентский текст не уходит в интернет.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Свой фронт аудитору не нужен: готовый чат Open WebUI.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80160"/>
            <a:ext cx="5440680" cy="4800600"/>
          </a:xfrm>
          <a:prstGeom prst="roundRect">
            <a:avLst>
              <a:gd name="adj" fmla="val 4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/>
          <a:lstStyle/>
          <a:p>
            <a:pPr algn="l"/>
            <a:r>
              <a:rPr sz="15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Честная граница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Закрыт контур «норма → гипотезы → черновик мнения → черновик заключения».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Это черновики для правки. Не подписанный акт СВА и не юридически значимое суждение «за аудитора».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Дальше по тому же Pipe: факты клиента, тесты, WP.</a:t>
            </a:r>
          </a:p>
          <a:p>
            <a:pPr algn="l">
              <a:spcBef>
                <a:spcPts val="1600"/>
              </a:spcBef>
              <a:spcAft>
                <a:spcPts val="0"/>
              </a:spcAft>
            </a:pPr>
            <a:r>
              <a:rPr sz="1500" b="1" i="1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Автоматизация сильна тем, что знает, где остановиться.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Откройте :3000 и начните с одной фразы.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AB0C0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B0C0"/>
                </a:solidFill>
                <a:latin typeface="Calibri"/>
                <a:ea typeface="Calibri"/>
                <a:cs typeface="Calibri"/>
              </a:rPr>
              <a:t>20  / 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